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c84e117a094276" /><Relationship Type="http://schemas.openxmlformats.org/officeDocument/2006/relationships/extended-properties" Target="/docProps/app.xml" Id="Rb451efad2549473b" /><Relationship Type="http://schemas.openxmlformats.org/officeDocument/2006/relationships/officeDocument" Target="/ppt/presentation.xml" Id="R849efa5f37d24d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01723ad88471a"/>
  </p:sldMasterIdLst>
  <p:notesMasterIdLst>
    <p:notesMasterId xmlns:r="http://schemas.openxmlformats.org/officeDocument/2006/relationships" r:id="R1b25e5b5a7fc4fbf"/>
  </p:notesMasterIdLst>
  <p:sldIdLst>
    <p:sldId xmlns:r="http://schemas.openxmlformats.org/officeDocument/2006/relationships" id="256" r:id="R291b179ba7424353"/>
    <p:sldId xmlns:r="http://schemas.openxmlformats.org/officeDocument/2006/relationships" id="257" r:id="R21e58e9c4ec943f6"/>
    <p:sldId xmlns:r="http://schemas.openxmlformats.org/officeDocument/2006/relationships" id="258" r:id="R73e27f2261c74565"/>
    <p:sldId xmlns:r="http://schemas.openxmlformats.org/officeDocument/2006/relationships" id="259" r:id="R080573f044994cf5"/>
    <p:sldId xmlns:r="http://schemas.openxmlformats.org/officeDocument/2006/relationships" id="260" r:id="R164e7d65d0304810"/>
    <p:sldId xmlns:r="http://schemas.openxmlformats.org/officeDocument/2006/relationships" id="261" r:id="Re4ce63936b594ef9"/>
    <p:sldId xmlns:r="http://schemas.openxmlformats.org/officeDocument/2006/relationships" id="262" r:id="R9c057a820371412a"/>
    <p:sldId xmlns:r="http://schemas.openxmlformats.org/officeDocument/2006/relationships" id="263" r:id="R0293432ac89a4729"/>
    <p:sldId xmlns:r="http://schemas.openxmlformats.org/officeDocument/2006/relationships" id="264" r:id="R30231efaee9247d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01723ad88471a" /><Relationship Type="http://schemas.openxmlformats.org/officeDocument/2006/relationships/theme" Target="/ppt/theme/theme1.xml" Id="Rc318bd64e8e64b7e" /><Relationship Type="http://schemas.openxmlformats.org/officeDocument/2006/relationships/notesMaster" Target="/ppt/notesMasters/notesMaster1.xml" Id="R1b25e5b5a7fc4fbf" /><Relationship Type="http://schemas.openxmlformats.org/officeDocument/2006/relationships/presProps" Target="/ppt/presProps.xml" Id="R2e9008399c4341af" /><Relationship Type="http://schemas.openxmlformats.org/officeDocument/2006/relationships/viewProps" Target="/ppt/viewProps.xml" Id="R5ef591a0eb024f2e" /><Relationship Type="http://schemas.openxmlformats.org/officeDocument/2006/relationships/tableStyles" Target="/ppt/tableStyles.xml" Id="Rc2570160d99a4cc6" /><Relationship Type="http://schemas.openxmlformats.org/officeDocument/2006/relationships/slide" Target="/ppt/slides/slide1.xml" Id="R291b179ba7424353" /><Relationship Type="http://schemas.openxmlformats.org/officeDocument/2006/relationships/slide" Target="/ppt/slides/slide2.xml" Id="R21e58e9c4ec943f6" /><Relationship Type="http://schemas.openxmlformats.org/officeDocument/2006/relationships/slide" Target="/ppt/slides/slide3.xml" Id="R73e27f2261c74565" /><Relationship Type="http://schemas.openxmlformats.org/officeDocument/2006/relationships/slide" Target="/ppt/slides/slide4.xml" Id="R080573f044994cf5" /><Relationship Type="http://schemas.openxmlformats.org/officeDocument/2006/relationships/slide" Target="/ppt/slides/slide5.xml" Id="R164e7d65d0304810" /><Relationship Type="http://schemas.openxmlformats.org/officeDocument/2006/relationships/slide" Target="/ppt/slides/slide6.xml" Id="Re4ce63936b594ef9" /><Relationship Type="http://schemas.openxmlformats.org/officeDocument/2006/relationships/slide" Target="/ppt/slides/slide7.xml" Id="R9c057a820371412a" /><Relationship Type="http://schemas.openxmlformats.org/officeDocument/2006/relationships/slide" Target="/ppt/slides/slide8.xml" Id="R0293432ac89a4729" /><Relationship Type="http://schemas.openxmlformats.org/officeDocument/2006/relationships/slide" Target="/ppt/slides/slide9.xml" Id="R30231efaee9247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85e4fdb90d47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497f5de0b14f0a" /><Relationship Type="http://schemas.openxmlformats.org/officeDocument/2006/relationships/notesMaster" Target="/ppt/notesMasters/notesMaster1.xml" Id="R3769721b408d40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e878f8ae144f35" /><Relationship Type="http://schemas.openxmlformats.org/officeDocument/2006/relationships/notesMaster" Target="/ppt/notesMasters/notesMaster1.xml" Id="R940184bb027949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375bf1bcfb4365" /><Relationship Type="http://schemas.openxmlformats.org/officeDocument/2006/relationships/notesMaster" Target="/ppt/notesMasters/notesMaster1.xml" Id="R1f53ff87721a41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2adaa1211148bd" /><Relationship Type="http://schemas.openxmlformats.org/officeDocument/2006/relationships/notesMaster" Target="/ppt/notesMasters/notesMaster1.xml" Id="R93d984901f1a40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9e4e1d6fd0411c" /><Relationship Type="http://schemas.openxmlformats.org/officeDocument/2006/relationships/notesMaster" Target="/ppt/notesMasters/notesMaster1.xml" Id="Ref0ebe90b58042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472beaad484cfc" /><Relationship Type="http://schemas.openxmlformats.org/officeDocument/2006/relationships/notesMaster" Target="/ppt/notesMasters/notesMaster1.xml" Id="R6be401ed39584b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56dbe570844b6c" /><Relationship Type="http://schemas.openxmlformats.org/officeDocument/2006/relationships/notesMaster" Target="/ppt/notesMasters/notesMaster1.xml" Id="Rb176376bcd9c4c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8cd668c6534785" /><Relationship Type="http://schemas.openxmlformats.org/officeDocument/2006/relationships/notesMaster" Target="/ppt/notesMasters/notesMaster1.xml" Id="Rf5dcdf787e624b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64b9124ad843eb" /><Relationship Type="http://schemas.openxmlformats.org/officeDocument/2006/relationships/notesMaster" Target="/ppt/notesMasters/notesMaster1.xml" Id="R0a2ea7e780ee42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30853ae7843c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a34fb5847054f37" /><Relationship Type="http://schemas.openxmlformats.org/officeDocument/2006/relationships/slideLayout" Target="/ppt/slideLayouts/slideLayout2.xml" Id="R0d32b64e86ed49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32b64e86ed49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9676f76056450f" /><Relationship Type="http://schemas.openxmlformats.org/officeDocument/2006/relationships/notesSlide" Target="/ppt/notesSlides/notesSlide1.xml" Id="R0c4f91af16c749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d8a44326784384" /><Relationship Type="http://schemas.openxmlformats.org/officeDocument/2006/relationships/notesSlide" Target="/ppt/notesSlides/notesSlide2.xml" Id="Re09ee22d717a44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e68610c96a4aa5" /><Relationship Type="http://schemas.openxmlformats.org/officeDocument/2006/relationships/notesSlide" Target="/ppt/notesSlides/notesSlide3.xml" Id="Rbdb1de9cd4c04b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449b8c40014131" /><Relationship Type="http://schemas.openxmlformats.org/officeDocument/2006/relationships/notesSlide" Target="/ppt/notesSlides/notesSlide4.xml" Id="R6cb9210fc3334d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604f6ef73a40a9" /><Relationship Type="http://schemas.openxmlformats.org/officeDocument/2006/relationships/notesSlide" Target="/ppt/notesSlides/notesSlide5.xml" Id="R24115802aabe43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2eb5e82cb14059" /><Relationship Type="http://schemas.openxmlformats.org/officeDocument/2006/relationships/notesSlide" Target="/ppt/notesSlides/notesSlide6.xml" Id="R5a1afd37b0524e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c8c7c5dbbd4141" /><Relationship Type="http://schemas.openxmlformats.org/officeDocument/2006/relationships/notesSlide" Target="/ppt/notesSlides/notesSlide7.xml" Id="R1bd307a2007648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5d2ca031594c51" /><Relationship Type="http://schemas.openxmlformats.org/officeDocument/2006/relationships/notesSlide" Target="/ppt/notesSlides/notesSlide8.xml" Id="Ra8f511e7cee44c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aa81aa596f4a76" /><Relationship Type="http://schemas.openxmlformats.org/officeDocument/2006/relationships/notesSlide" Target="/ppt/notesSlides/notesSlide9.xml" Id="Re9fd9987fbe340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FBA5B23-DC55-4666-8009-FDA2A070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9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B878E3D-86EA-4527-A93E-8045508C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3448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A661"/>
                </a:solidFill>
              </a:defRPr>
            </a:pPr>
            <a:r>
              <a:rPr sz="1350" b="1">
                <a:solidFill>
                  <a:srgbClr val="C6A661"/>
                </a:solidFill>
              </a:rPr>
              <a:t>LAW FIRM WEBSITE BRAND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B660E-09F2-433E-B323-12D7C096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5900" y="723900"/>
            <a:ext cx="68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8E0CD"/>
                </a:solidFill>
              </a:defRPr>
            </a:pPr>
            <a:r>
              <a:rPr sz="1500">
                <a:solidFill>
                  <a:srgbClr val="E8E0CD"/>
                </a:solidFill>
              </a:rPr>
              <a:t>2026.04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70A85-B3D9-4873-852D-9603D0FD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6535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北京纬理律师事务所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03973-8551-4BFB-8387-A576A917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01155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FFFF"/>
                </a:solidFill>
              </a:defRPr>
            </a:pPr>
            <a:r>
              <a:rPr sz="7800" b="1">
                <a:solidFill>
                  <a:srgbClr val="FFFFFF"/>
                </a:solidFill>
              </a:rPr>
              <a:t>品牌网站首页方向介绍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DBA83-ACCC-4179-A2C9-8987984F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960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661"/>
          </a:solidFill>
          <a:ln xmlns:a="http://schemas.openxmlformats.org/drawingml/2006/main" w="0">
            <a:solidFill>
              <a:srgbClr val="C6A661"/>
            </a:solidFill>
            <a:prstDash val="solid"/>
          </a:ln>
        </p:spPr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4B3A286-AA0F-458A-B5DB-4F549B21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96100"/>
            <a:ext cx="962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9D0D8"/>
                </a:solidFill>
              </a:defRPr>
            </a:pPr>
            <a:r>
              <a:rPr sz="2250">
                <a:solidFill>
                  <a:srgbClr val="C9D0D8"/>
                </a:solidFill>
              </a:rPr>
              <a:t>基于律所资料与网站未来内容承载需求，形成三条可比较的首页视觉与转化路径。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D7D04-4FB1-415E-B0D7-C9A4FD58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15450"/>
            <a:ext cx="440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8E0CD"/>
                </a:solidFill>
              </a:defRPr>
            </a:pPr>
            <a:r>
              <a:rPr sz="1650">
                <a:solidFill>
                  <a:srgbClr val="E8E0CD"/>
                </a:solidFill>
              </a:rPr>
              <a:t>A 高端商务型 / B 内容品牌型 / C 现代精品所型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DBE18-216B-4EDF-92DD-DA23796D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9315450"/>
            <a:ext cx="310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D8794"/>
                </a:solidFill>
              </a:defRPr>
            </a:pPr>
            <a:r>
              <a:rPr sz="1200">
                <a:solidFill>
                  <a:srgbClr val="7D8794"/>
                </a:solidFill>
              </a:rPr>
              <a:t>资料来源：北京纬理律师事务所项目响应文件</a:t>
            </a:r>
          </a:p>
        </p:txBody>
      </p:sp>
    </p:spTree>
    <p:extLst>
      <p:ext uri="{BB962C8B-B14F-4D97-AF65-F5344CB8AC3E}">
        <p14:creationId xmlns:p14="http://schemas.microsoft.com/office/powerpoint/2010/main" val="18689862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7FEA93C-05A8-4167-BD71-5618B951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1E2ED7F-EB72-4E40-99A4-2A9DF0DD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14B2D"/>
                </a:solidFill>
              </a:defRPr>
            </a:pPr>
            <a:r>
              <a:rPr sz="1350" b="1">
                <a:solidFill>
                  <a:srgbClr val="B14B2D"/>
                </a:solidFill>
              </a:rPr>
              <a:t>SOURCE-BASED BRAND SIGNALS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0DE35C-FB22-4FB1-982D-3A0E62B5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9448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资料里最适合转化为网站信任资产的内容</a:t>
            </a:r>
          </a:p>
        </p:txBody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0016EA4-C10A-41F2-AF14-7793A8C5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6300" y="647700"/>
            <a:ext cx="1352550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600" b="1">
                <a:solidFill>
                  <a:srgbClr val="B14B2D"/>
                </a:solidFill>
              </a:defRPr>
            </a:pPr>
            <a:r>
              <a:rPr sz="9600" b="1">
                <a:solidFill>
                  <a:srgbClr val="B14B2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0B9CB-7BF1-43ED-8C6E-5CAA1CF5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14B2D"/>
                </a:solidFill>
              </a:defRPr>
            </a:pPr>
            <a:r>
              <a:rPr sz="4350" b="1">
                <a:solidFill>
                  <a:srgbClr val="B14B2D"/>
                </a:solidFill>
              </a:rPr>
              <a:t>2h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B540F-C10D-4086-AEDB-36C47B4A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525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紧急事务响应</a:t>
            </a:r>
          </a:p>
        </p:txBody>
      </p:sp>
      <p:sp>
        <p:nvSpPr>
          <p:cNvPr id="7" name="small-copy">
            <a:extLst xmlns:a="http://schemas.openxmlformats.org/drawingml/2006/main">
              <a:ext uri="{FF2B5EF4-FFF2-40B4-BE49-F238E27FC236}">
                <a16:creationId xmlns:a16="http://schemas.microsoft.com/office/drawing/2014/main" id="{3FA3A111-120E-4451-B06E-EE5ABD2F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3467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资料中承诺紧急法律事务一般 2 小时内书面回复，并提出可操作方案。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841F4-62B2-465C-8F68-7E374F4C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14B2D"/>
                </a:solidFill>
              </a:defRPr>
            </a:pPr>
            <a:r>
              <a:rPr sz="4350" b="1">
                <a:solidFill>
                  <a:srgbClr val="B14B2D"/>
                </a:solidFill>
              </a:rPr>
              <a:t>1d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594CF-4267-467F-82BC-F434E3B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9650"/>
            <a:ext cx="525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常规业务时限</a:t>
            </a:r>
          </a:p>
        </p:txBody>
      </p:sp>
      <p:sp>
        <p:nvSpPr>
          <p:cNvPr id="10" name="small-copy">
            <a:extLst xmlns:a="http://schemas.openxmlformats.org/drawingml/2006/main">
              <a:ext uri="{FF2B5EF4-FFF2-40B4-BE49-F238E27FC236}">
                <a16:creationId xmlns:a16="http://schemas.microsoft.com/office/drawing/2014/main" id="{47B391A0-3CFD-47EE-978D-A158EF99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38750"/>
            <a:ext cx="3886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常规法律意见、代理思路、案件分析等事项一般一个工作日内完成。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F99A3-2B2D-49EF-9D59-18CB5BCF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038600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14B2D"/>
                </a:solidFill>
              </a:defRPr>
            </a:pPr>
            <a:r>
              <a:rPr sz="4350" b="1">
                <a:solidFill>
                  <a:srgbClr val="B14B2D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2ACE8-83B8-47E5-B809-37229D0C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819650"/>
            <a:ext cx="525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项目律师团队</a:t>
            </a:r>
          </a:p>
        </p:txBody>
      </p:sp>
      <p:sp>
        <p:nvSpPr>
          <p:cNvPr id="13" name="small-copy">
            <a:extLst xmlns:a="http://schemas.openxmlformats.org/drawingml/2006/main">
              <a:ext uri="{FF2B5EF4-FFF2-40B4-BE49-F238E27FC236}">
                <a16:creationId xmlns:a16="http://schemas.microsoft.com/office/drawing/2014/main" id="{D75F6D93-CC77-4F3E-9B57-E03A060C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238750"/>
            <a:ext cx="3886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柴云乐、徐爽、孙海波、刘静等组成稳定服务团队，可作为网站团队入口重点。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6E878-457A-4943-838C-D6D75C26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10400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14B2D"/>
                </a:solidFill>
              </a:defRPr>
            </a:pPr>
            <a:r>
              <a:rPr sz="4350" b="1">
                <a:solidFill>
                  <a:srgbClr val="B14B2D"/>
                </a:solidFill>
              </a:rPr>
              <a:t>批量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42CAF-7338-452A-A53C-D6B616A9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0"/>
            <a:ext cx="525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案件管理能力</a:t>
            </a:r>
          </a:p>
        </p:txBody>
      </p:sp>
      <p:sp>
        <p:nvSpPr>
          <p:cNvPr id="16" name="small-copy">
            <a:extLst xmlns:a="http://schemas.openxmlformats.org/drawingml/2006/main">
              <a:ext uri="{FF2B5EF4-FFF2-40B4-BE49-F238E27FC236}">
                <a16:creationId xmlns:a16="http://schemas.microsoft.com/office/drawing/2014/main" id="{B50E1362-E8E4-4A52-96F4-564B4227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210550"/>
            <a:ext cx="3886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涉互联网纠纷、网络合同、网络侵权、知产纠纷等批量案件应诉经验明确。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A79D3-37D6-4D94-AC5B-9C93AEAB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010400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14B2D"/>
                </a:solidFill>
              </a:defRPr>
            </a:pPr>
            <a:r>
              <a:rPr sz="4350" b="1">
                <a:solidFill>
                  <a:srgbClr val="B14B2D"/>
                </a:solidFill>
              </a:rPr>
              <a:t>制度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9B9AB-A35E-4F23-99B3-697DC421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810500"/>
            <a:ext cx="525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质量与保密机制</a:t>
            </a:r>
          </a:p>
        </p:txBody>
      </p:sp>
      <p:sp>
        <p:nvSpPr>
          <p:cNvPr id="19" name="small-copy">
            <a:extLst xmlns:a="http://schemas.openxmlformats.org/drawingml/2006/main">
              <a:ext uri="{FF2B5EF4-FFF2-40B4-BE49-F238E27FC236}">
                <a16:creationId xmlns:a16="http://schemas.microsoft.com/office/drawing/2014/main" id="{98B17657-C029-4204-8F43-E40EC171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8210550"/>
            <a:ext cx="3886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内部控制、档案管理、利益冲突排查、投诉反馈和持续跟进机制可强化可靠感。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35E6F-5ABA-4B52-BDAC-BAE6D14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010400"/>
            <a:ext cx="5257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14B2D"/>
                </a:solidFill>
              </a:defRPr>
            </a:pPr>
            <a:r>
              <a:rPr sz="4350" b="1">
                <a:solidFill>
                  <a:srgbClr val="B14B2D"/>
                </a:solidFill>
              </a:rPr>
              <a:t>最高法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FF562-8CB1-4337-9615-D824FE8F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810500"/>
            <a:ext cx="525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代表性专业战绩</a:t>
            </a:r>
          </a:p>
        </p:txBody>
      </p:sp>
      <p:sp>
        <p:nvSpPr>
          <p:cNvPr id="22" name="small-copy">
            <a:extLst xmlns:a="http://schemas.openxmlformats.org/drawingml/2006/main">
              <a:ext uri="{FF2B5EF4-FFF2-40B4-BE49-F238E27FC236}">
                <a16:creationId xmlns:a16="http://schemas.microsoft.com/office/drawing/2014/main" id="{851A5D08-228C-4267-8C03-AAEB866A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8210550"/>
            <a:ext cx="3886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资料提及知识产权案件曾被最高人民法院直接提审并改判，可转化为代表案例叙事。</a:t>
            </a:r>
          </a:p>
        </p:txBody>
      </p:sp>
    </p:spTree>
    <p:extLst>
      <p:ext uri="{BB962C8B-B14F-4D97-AF65-F5344CB8AC3E}">
        <p14:creationId xmlns:p14="http://schemas.microsoft.com/office/powerpoint/2010/main" val="14931137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17CF06B-B841-4C98-A610-C103F49B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9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B06E730-5054-419A-A631-B33AA17E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95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A661"/>
                </a:solidFill>
              </a:defRPr>
            </a:pPr>
            <a:r>
              <a:rPr sz="1350" b="1">
                <a:solidFill>
                  <a:srgbClr val="C6A661"/>
                </a:solidFill>
              </a:rPr>
              <a:t>WEBSITE ROLE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EFAD9B-AF52-4B51-9444-FA37CA5B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76350"/>
            <a:ext cx="6629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11827"/>
                </a:solidFill>
              </a:defRPr>
            </a:pPr>
            <a:r>
              <a:rPr sz="4650" b="1">
                <a:solidFill>
                  <a:srgbClr val="111827"/>
                </a:solidFill>
              </a:rPr>
              <a:t>律所网站不只是电子名片，而是信任建立系统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7320233-B886-450A-9DF2-0F203A16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65341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6470"/>
                </a:solidFill>
              </a:defRPr>
            </a:pPr>
            <a:r>
              <a:rPr sz="2100">
                <a:solidFill>
                  <a:srgbClr val="5D6470"/>
                </a:solidFill>
              </a:rPr>
              <a:t>首页需要同时完成三件事：让客户确认律所有能力，让客户理解适配的专业方向，让客户知道如何安全地开始咨询。</a:t>
            </a:r>
          </a:p>
        </p:txBody>
      </p:sp>
      <p:sp>
        <p:nvSpPr>
          <p:cNvPr id="5" name="small-copy">
            <a:extLst xmlns:a="http://schemas.openxmlformats.org/drawingml/2006/main">
              <a:ext uri="{FF2B5EF4-FFF2-40B4-BE49-F238E27FC236}">
                <a16:creationId xmlns:a16="http://schemas.microsoft.com/office/drawing/2014/main" id="{4F64CCEB-B335-4529-A1D2-B8260022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63050"/>
            <a:ext cx="676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建议导航基础结构：关于纬理 / 专业领域 / 律师团队 / 案例洞察 / 内容中心 / 预约咨询 / 联系方式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31B4E-D453-4722-B827-36A0C9F7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09" y="3575685"/>
            <a:ext cx="9429941" cy="3135630"/>
          </a:xfrm>
          <a:prstGeom xmlns:a="http://schemas.openxmlformats.org/drawingml/2006/main" prst="roundRect">
            <a:avLst>
              <a:gd name="adj" fmla="val 24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F0EE3-F7BB-49C6-9CA5-AAB23656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AA060-2677-4081-AA4F-C6900A73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826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首屏 Hero：一句可信赖的品牌主张 + 直接咨询入口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A8D45-7582-4BD6-8AF0-F1BA178D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24BBB-8799-44CE-82F9-AC94624C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826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核心业务：涉互联网纠纷、知产、公司、金融保险、批量案件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92F7E-E305-4BCF-BC1A-1F562282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FC54E-035C-4EED-9BA5-49F9AA51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826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律师团队：负责人、合伙人、主办律师经验与代表业绩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5FE7A-1CA8-4D87-9FE8-8C7D8F5A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578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B72F3-B3B8-40B1-A3AA-17F3ACFB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19700"/>
            <a:ext cx="826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案例洞察：从响应文件中的真实优势延展为内容资产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F13BF-2237-48C5-985C-6998B64D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340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E89A3-5CDD-43F6-917F-99665529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95950"/>
            <a:ext cx="826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咨询 CTA：保密、响应时限、初步评估流程明确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66F9A-E335-48A0-A07A-B416FC9B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2103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A0979-CD28-4E5D-8CB0-3A4F4AA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72200"/>
            <a:ext cx="826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Footer：执业资质、办公信息、隐私与法律声明</a:t>
            </a:r>
          </a:p>
        </p:txBody>
      </p:sp>
    </p:spTree>
    <p:extLst>
      <p:ext uri="{BB962C8B-B14F-4D97-AF65-F5344CB8AC3E}">
        <p14:creationId xmlns:p14="http://schemas.microsoft.com/office/powerpoint/2010/main" val="16534478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75788FF-80CA-4A4C-B16C-716DCF1B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9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AD12390-F09C-4E85-A297-7A137B30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A661"/>
                </a:solidFill>
              </a:defRPr>
            </a:pPr>
            <a:r>
              <a:rPr sz="1350" b="1">
                <a:solidFill>
                  <a:srgbClr val="C6A661"/>
                </a:solidFill>
              </a:rPr>
              <a:t>A / 高端商务型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CD9A49-9098-45C6-915A-49213656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47750"/>
            <a:ext cx="6629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大所感、稳重权威，适合重大争议与企业客户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41C198E-7679-49C1-8F19-CA2B2296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609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C9D0D8"/>
                </a:solidFill>
              </a:defRPr>
            </a:pPr>
            <a:r>
              <a:rPr sz="2100">
                <a:solidFill>
                  <a:srgbClr val="C9D0D8"/>
                </a:solidFill>
              </a:rPr>
              <a:t>把“批量案件管理、公司化运营、服务时限、代表性战绩”作为首页第一层信任信号。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1CA97-C1CA-48A6-AE64-C3243309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6B106-6398-47D4-8DA4-CD34CE1E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962900"/>
            <a:ext cx="565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色彩：深海军蓝 + 香槟金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83041-FC7D-444E-980B-1EC6C1CF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772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D3A18-B8C1-4643-A2EF-DC98E8A8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439150"/>
            <a:ext cx="565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字体：宋体标题 + 克制无衬线正文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61BC5-49AF-4E08-99B6-29CD07E1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20FBE-EB2A-48A8-B9E1-3E1639A5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15400"/>
            <a:ext cx="565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层级：先权威，再专业，再案例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CD2BE-325F-43D3-84C1-85E0053F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107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ED2E6-8DB8-4D15-A335-560DADFE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372600"/>
            <a:ext cx="565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路径：预约合伙人评估 &gt; 查看代表案例</a:t>
            </a:r>
          </a:p>
        </p:txBody>
      </p:sp>
      <p:sp>
        <p:nvSpPr>
          <p:cNvPr id="13" name="homepage-business">
            <a:extLst xmlns:a="http://schemas.openxmlformats.org/drawingml/2006/main">
              <a:ext uri="{FF2B5EF4-FFF2-40B4-BE49-F238E27FC236}">
                <a16:creationId xmlns:a16="http://schemas.microsoft.com/office/drawing/2014/main" id="{40DC3C3F-71E3-49E1-9136-172CD04C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54555"/>
            <a:ext cx="9877425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D5F43-939D-4C0F-8592-191DAFF9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北京纬理律师事务所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EE3EC-60DF-4456-8799-81C07A62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4574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0CA"/>
                </a:solidFill>
              </a:defRPr>
            </a:pPr>
            <a:r>
              <a:rPr sz="1125">
                <a:solidFill>
                  <a:srgbClr val="B9C0CA"/>
                </a:solidFill>
              </a:rPr>
              <a:t>专业领域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3920D-A0B6-49F4-B589-EF5CBE02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24574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0CA"/>
                </a:solidFill>
              </a:defRPr>
            </a:pPr>
            <a:r>
              <a:rPr sz="1125">
                <a:solidFill>
                  <a:srgbClr val="B9C0CA"/>
                </a:solidFill>
              </a:rPr>
              <a:t>律师团队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A47E4-4010-430C-B84D-F691F535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850" y="24574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9C0CA"/>
                </a:solidFill>
              </a:defRPr>
            </a:pPr>
            <a:r>
              <a:rPr sz="1125">
                <a:solidFill>
                  <a:srgbClr val="B9C0CA"/>
                </a:solidFill>
              </a:rPr>
              <a:t>案例洞察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DA6F4-0A2A-43B3-B4DC-6DDD7955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939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824"/>
            </a:srgbClr>
          </a:solidFill>
          <a:ln xmlns:a="http://schemas.openxmlformats.org/drawingml/2006/main" w="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43753-E0DE-4790-BF2E-6F9945EA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52900"/>
            <a:ext cx="52387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以司法经验理解风险，以商业视角解决问题</a:t>
            </a:r>
          </a:p>
        </p:txBody>
      </p:sp>
      <p:sp>
        <p:nvSpPr>
          <p:cNvPr id="20" name="small-copy">
            <a:extLst xmlns:a="http://schemas.openxmlformats.org/drawingml/2006/main">
              <a:ext uri="{FF2B5EF4-FFF2-40B4-BE49-F238E27FC236}">
                <a16:creationId xmlns:a16="http://schemas.microsoft.com/office/drawing/2014/main" id="{B76759BC-C102-4E4C-B00B-7AAE4750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95900"/>
            <a:ext cx="3886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0CA"/>
                </a:solidFill>
              </a:defRPr>
            </a:pPr>
            <a:r>
              <a:rPr sz="1575">
                <a:solidFill>
                  <a:srgbClr val="B9C0CA"/>
                </a:solidFill>
              </a:rPr>
              <a:t>首屏强调权威、经验和重大事务处理能力。</a:t>
            </a:r>
          </a:p>
        </p:txBody>
      </p:sp>
      <p:sp>
        <p:nvSpPr>
          <p:cNvPr id="21" name="chip-预约咨询">
            <a:extLst xmlns:a="http://schemas.openxmlformats.org/drawingml/2006/main">
              <a:ext uri="{FF2B5EF4-FFF2-40B4-BE49-F238E27FC236}">
                <a16:creationId xmlns:a16="http://schemas.microsoft.com/office/drawing/2014/main" id="{96429162-8A37-45AF-9C15-51EF2AF3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967413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C6A6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E4868-553C-4E8B-9EA2-7AF0B05D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0769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预约咨询</a:t>
            </a:r>
          </a:p>
        </p:txBody>
      </p:sp>
      <p:sp>
        <p:nvSpPr>
          <p:cNvPr id="23" name="chip-代表案例">
            <a:extLst xmlns:a="http://schemas.openxmlformats.org/drawingml/2006/main">
              <a:ext uri="{FF2B5EF4-FFF2-40B4-BE49-F238E27FC236}">
                <a16:creationId xmlns:a16="http://schemas.microsoft.com/office/drawing/2014/main" id="{CFB8D613-A68A-4703-84C6-DBC8EB80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953" y="5967413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AEA7D-9E61-4EAD-8F47-A86414C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769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C0CA"/>
                </a:solidFill>
              </a:defRPr>
            </a:pPr>
            <a:r>
              <a:rPr sz="1350" b="1">
                <a:solidFill>
                  <a:srgbClr val="B9C0CA"/>
                </a:solidFill>
              </a:rPr>
              <a:t>代表案例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45B6F-F949-46AA-B818-804F2C86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3344" y="3288030"/>
            <a:ext cx="3874056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97997-7C84-4DE5-B9AC-55242F9E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467100"/>
            <a:ext cx="3524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核心信任信号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577A37-1D88-45C5-A169-89327A3F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362450"/>
            <a:ext cx="3524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6A661"/>
                </a:solidFill>
              </a:defRPr>
            </a:pPr>
            <a:r>
              <a:rPr sz="1800" b="1">
                <a:solidFill>
                  <a:srgbClr val="C6A661"/>
                </a:solidFill>
              </a:rPr>
              <a:t>批量案件管理 / 涉互联网争议 / 知识产权经验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59785-0147-445B-85E3-59E450AB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181600"/>
            <a:ext cx="190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8FFAA5-42F3-46EB-8FF0-57CAAC2E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5181600"/>
            <a:ext cx="190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C6EA9F-683C-4340-AECD-9A153454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6324600"/>
            <a:ext cx="190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09679-011A-49ED-BA81-D49989D7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6324600"/>
            <a:ext cx="1905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32" name="chip-Hero">
            <a:extLst xmlns:a="http://schemas.openxmlformats.org/drawingml/2006/main">
              <a:ext uri="{FF2B5EF4-FFF2-40B4-BE49-F238E27FC236}">
                <a16:creationId xmlns:a16="http://schemas.microsoft.com/office/drawing/2014/main" id="{B96EC759-E9B2-428F-A089-E06AA71A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717155"/>
            <a:ext cx="812959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C6A66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27CF0B-EB7D-4ACE-B95C-AD305B1E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295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Hero</a:t>
            </a:r>
          </a:p>
        </p:txBody>
      </p:sp>
      <p:sp>
        <p:nvSpPr>
          <p:cNvPr id="34" name="chip-专业领域">
            <a:extLst xmlns:a="http://schemas.openxmlformats.org/drawingml/2006/main">
              <a:ext uri="{FF2B5EF4-FFF2-40B4-BE49-F238E27FC236}">
                <a16:creationId xmlns:a16="http://schemas.microsoft.com/office/drawing/2014/main" id="{83B1B951-9F26-4C0A-87AB-91AB090B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034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97BCFB-53AF-41D2-BBAD-89FE6E37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D0D8"/>
                </a:solidFill>
              </a:defRPr>
            </a:pPr>
            <a:r>
              <a:rPr sz="1350" b="1">
                <a:solidFill>
                  <a:srgbClr val="C9D0D8"/>
                </a:solidFill>
              </a:rPr>
              <a:t>专业领域</a:t>
            </a:r>
          </a:p>
        </p:txBody>
      </p:sp>
      <p:sp>
        <p:nvSpPr>
          <p:cNvPr id="36" name="chip-律师团队">
            <a:extLst xmlns:a="http://schemas.openxmlformats.org/drawingml/2006/main">
              <a:ext uri="{FF2B5EF4-FFF2-40B4-BE49-F238E27FC236}">
                <a16:creationId xmlns:a16="http://schemas.microsoft.com/office/drawing/2014/main" id="{9B50D954-EFDF-455E-89BE-AC5A338B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2862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06AEE5-55C9-41CD-9182-7127C248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D0D8"/>
                </a:solidFill>
              </a:defRPr>
            </a:pPr>
            <a:r>
              <a:rPr sz="1350" b="1">
                <a:solidFill>
                  <a:srgbClr val="C9D0D8"/>
                </a:solidFill>
              </a:rPr>
              <a:t>律师团队</a:t>
            </a:r>
          </a:p>
        </p:txBody>
      </p:sp>
      <p:sp>
        <p:nvSpPr>
          <p:cNvPr id="38" name="chip-案例洞察">
            <a:extLst xmlns:a="http://schemas.openxmlformats.org/drawingml/2006/main">
              <a:ext uri="{FF2B5EF4-FFF2-40B4-BE49-F238E27FC236}">
                <a16:creationId xmlns:a16="http://schemas.microsoft.com/office/drawing/2014/main" id="{C458C7C0-1F9B-470D-BBE6-C3F9A61D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3690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F1F8D5-B7C5-411E-81FB-A48D1AB1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D0D8"/>
                </a:solidFill>
              </a:defRPr>
            </a:pPr>
            <a:r>
              <a:rPr sz="1350" b="1">
                <a:solidFill>
                  <a:srgbClr val="C9D0D8"/>
                </a:solidFill>
              </a:rPr>
              <a:t>案例洞察</a:t>
            </a:r>
          </a:p>
        </p:txBody>
      </p:sp>
      <p:sp>
        <p:nvSpPr>
          <p:cNvPr id="40" name="chip-保密咨询">
            <a:extLst xmlns:a="http://schemas.openxmlformats.org/drawingml/2006/main">
              <a:ext uri="{FF2B5EF4-FFF2-40B4-BE49-F238E27FC236}">
                <a16:creationId xmlns:a16="http://schemas.microsoft.com/office/drawing/2014/main" id="{295EE151-6DCB-4C56-8BE6-8E5D3738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4518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C6A66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0AE68D-83A6-456A-89EE-11ED8934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保密咨询</a:t>
            </a:r>
          </a:p>
        </p:txBody>
      </p:sp>
    </p:spTree>
    <p:extLst>
      <p:ext uri="{BB962C8B-B14F-4D97-AF65-F5344CB8AC3E}">
        <p14:creationId xmlns:p14="http://schemas.microsoft.com/office/powerpoint/2010/main" val="8411712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1238D592-5784-41C3-86E9-FD493A5A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</p:sp>
      <p:sp>
        <p:nvSpPr>
          <p:cNvPr id="2" name="homepage-content">
            <a:extLst xmlns:a="http://schemas.openxmlformats.org/drawingml/2006/main">
              <a:ext uri="{FF2B5EF4-FFF2-40B4-BE49-F238E27FC236}">
                <a16:creationId xmlns:a16="http://schemas.microsoft.com/office/drawing/2014/main" id="{496868EC-98C3-458B-9A0D-569466C8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4555"/>
            <a:ext cx="90678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AD1E3-52FE-46E2-BC69-1677110C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北京纬理律师事务所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E7A69-BB3A-4B21-AF3E-A6F139CE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470"/>
                </a:solidFill>
              </a:defRPr>
            </a:pPr>
            <a:r>
              <a:rPr sz="1125">
                <a:solidFill>
                  <a:srgbClr val="5D6470"/>
                </a:solidFill>
              </a:rPr>
              <a:t>专业领域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BB051-5982-466E-AB71-070CB1D8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470"/>
                </a:solidFill>
              </a:defRPr>
            </a:pPr>
            <a:r>
              <a:rPr sz="1125">
                <a:solidFill>
                  <a:srgbClr val="5D6470"/>
                </a:solidFill>
              </a:rPr>
              <a:t>律师团队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4E882-3CE1-4CBB-969F-6B60DC3C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470"/>
                </a:solidFill>
              </a:defRPr>
            </a:pPr>
            <a:r>
              <a:rPr sz="1125">
                <a:solidFill>
                  <a:srgbClr val="5D6470"/>
                </a:solidFill>
              </a:rPr>
              <a:t>案例洞察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5B684-6DDB-4CFF-ABD2-FBF6BFD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13333"/>
            </a:srgbClr>
          </a:solidFill>
          <a:ln xmlns:a="http://schemas.openxmlformats.org/drawingml/2006/main" w="0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500DA-802A-4696-A505-6EC0C5AF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43624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你的法律朋友，用清晰可信的方式处理复杂问题</a:t>
            </a:r>
          </a:p>
        </p:txBody>
      </p:sp>
      <p:sp>
        <p:nvSpPr>
          <p:cNvPr id="9" name="small-copy">
            <a:extLst xmlns:a="http://schemas.openxmlformats.org/drawingml/2006/main">
              <a:ext uri="{FF2B5EF4-FFF2-40B4-BE49-F238E27FC236}">
                <a16:creationId xmlns:a16="http://schemas.microsoft.com/office/drawing/2014/main" id="{3A061161-68A8-473E-BA2E-65DFAFBF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3676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以文章、播客和问题清单承接自然流量。</a:t>
            </a:r>
          </a:p>
        </p:txBody>
      </p:sp>
      <p:sp>
        <p:nvSpPr>
          <p:cNvPr id="10" name="chip-听播客">
            <a:extLst xmlns:a="http://schemas.openxmlformats.org/drawingml/2006/main">
              <a:ext uri="{FF2B5EF4-FFF2-40B4-BE49-F238E27FC236}">
                <a16:creationId xmlns:a16="http://schemas.microsoft.com/office/drawing/2014/main" id="{ADC2011B-5118-4372-A350-D0BEBC47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04573"/>
            <a:ext cx="944308" cy="6210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14B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DF187-7DCC-4960-A7B7-8F12F671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10300"/>
            <a:ext cx="533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听播客</a:t>
            </a:r>
          </a:p>
        </p:txBody>
      </p:sp>
      <p:sp>
        <p:nvSpPr>
          <p:cNvPr id="12" name="chip-服务方式">
            <a:extLst xmlns:a="http://schemas.openxmlformats.org/drawingml/2006/main">
              <a:ext uri="{FF2B5EF4-FFF2-40B4-BE49-F238E27FC236}">
                <a16:creationId xmlns:a16="http://schemas.microsoft.com/office/drawing/2014/main" id="{5A2934C8-AA25-458F-8E9A-9661A4CA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208" y="6104573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09C7F-8BE0-415E-AB03-F2E6BAB8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21030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服务方式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817F2-021D-4D2E-A621-23613325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845" y="3288030"/>
            <a:ext cx="394525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D54B21-2AC4-4472-B9AA-4980314D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6710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本周法律播客 EP.18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DEF88-903B-452A-9D3B-0DE3D258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38700"/>
            <a:ext cx="3600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14B2D"/>
                </a:solidFill>
              </a:defRPr>
            </a:pPr>
            <a:r>
              <a:rPr sz="1800" b="1">
                <a:solidFill>
                  <a:srgbClr val="B14B2D"/>
                </a:solidFill>
              </a:rPr>
              <a:t>企业合规不是文件，而是关键人员的决策习惯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A518E-09D1-4F6D-84B6-E7133AD8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15000"/>
            <a:ext cx="190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5BDFE-C270-4B13-BF01-91A9D089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15000"/>
            <a:ext cx="190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7B4AC-1726-45FF-983E-430AB900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553200"/>
            <a:ext cx="190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37256-970A-4951-B0BE-85EB74D0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90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21" name="chip-法律专栏">
            <a:extLst xmlns:a="http://schemas.openxmlformats.org/drawingml/2006/main">
              <a:ext uri="{FF2B5EF4-FFF2-40B4-BE49-F238E27FC236}">
                <a16:creationId xmlns:a16="http://schemas.microsoft.com/office/drawing/2014/main" id="{A1AEAE0A-FB02-4E61-85F2-3CFDB7FF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5D0"/>
          </a:solidFill>
          <a:ln xmlns:a="http://schemas.openxmlformats.org/drawingml/2006/main" w="9525">
            <a:solidFill>
              <a:srgbClr val="B14B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99E38-A1D9-4E1E-A5AA-572A868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法律专栏</a:t>
            </a:r>
          </a:p>
        </p:txBody>
      </p:sp>
      <p:sp>
        <p:nvSpPr>
          <p:cNvPr id="23" name="chip-播客视频">
            <a:extLst xmlns:a="http://schemas.openxmlformats.org/drawingml/2006/main">
              <a:ext uri="{FF2B5EF4-FFF2-40B4-BE49-F238E27FC236}">
                <a16:creationId xmlns:a16="http://schemas.microsoft.com/office/drawing/2014/main" id="{F5C7C622-7632-4E96-8B88-D325D09F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778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1BFB29-04FA-4C1C-876A-9C97D08B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播客视频</a:t>
            </a:r>
          </a:p>
        </p:txBody>
      </p:sp>
      <p:sp>
        <p:nvSpPr>
          <p:cNvPr id="25" name="chip-风险清单">
            <a:extLst xmlns:a="http://schemas.openxmlformats.org/drawingml/2006/main">
              <a:ext uri="{FF2B5EF4-FFF2-40B4-BE49-F238E27FC236}">
                <a16:creationId xmlns:a16="http://schemas.microsoft.com/office/drawing/2014/main" id="{1326262B-5741-4541-8E25-4771A34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06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778C3-C9E6-4FBF-B915-78319746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风险清单</a:t>
            </a:r>
          </a:p>
        </p:txBody>
      </p:sp>
      <p:sp>
        <p:nvSpPr>
          <p:cNvPr id="27" name="chip-免费初筛">
            <a:extLst xmlns:a="http://schemas.openxmlformats.org/drawingml/2006/main">
              <a:ext uri="{FF2B5EF4-FFF2-40B4-BE49-F238E27FC236}">
                <a16:creationId xmlns:a16="http://schemas.microsoft.com/office/drawing/2014/main" id="{4F7186E7-B82A-4C90-802D-3FF1D393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434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14B2D"/>
          </a:solidFill>
          <a:ln xmlns:a="http://schemas.openxmlformats.org/drawingml/2006/main" w="9525">
            <a:solidFill>
              <a:srgbClr val="B14B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91A0A-2268-4EE8-BC8A-91D2320D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免费初筛</a:t>
            </a:r>
          </a:p>
        </p:txBody>
      </p:sp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1AD50316-DC04-412C-8089-D234F42E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09600"/>
            <a:ext cx="116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14B2D"/>
                </a:solidFill>
              </a:defRPr>
            </a:pPr>
            <a:r>
              <a:rPr sz="1350" b="1">
                <a:solidFill>
                  <a:srgbClr val="B14B2D"/>
                </a:solidFill>
              </a:rPr>
              <a:t>B / 内容品牌型</a:t>
            </a:r>
          </a:p>
        </p:txBody>
      </p:sp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5D6BAA-D231-4F4B-BC14-F6BA6138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257300"/>
            <a:ext cx="64198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827"/>
                </a:solidFill>
              </a:defRPr>
            </a:pPr>
            <a:r>
              <a:rPr sz="4500" b="1">
                <a:solidFill>
                  <a:srgbClr val="111827"/>
                </a:solidFill>
              </a:rPr>
              <a:t>法律媒体感，适合播客、普法与自然流量转化</a:t>
            </a:r>
          </a:p>
        </p:txBody>
      </p:sp>
      <p:sp>
        <p:nvSpPr>
          <p:cNvPr id="31" name="body">
            <a:extLst xmlns:a="http://schemas.openxmlformats.org/drawingml/2006/main">
              <a:ext uri="{FF2B5EF4-FFF2-40B4-BE49-F238E27FC236}">
                <a16:creationId xmlns:a16="http://schemas.microsoft.com/office/drawing/2014/main" id="{B5A061D0-2930-4A42-B9F9-0546AE62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57500"/>
            <a:ext cx="6267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6470"/>
                </a:solidFill>
              </a:defRPr>
            </a:pPr>
            <a:r>
              <a:rPr sz="2100">
                <a:solidFill>
                  <a:srgbClr val="5D6470"/>
                </a:solidFill>
              </a:rPr>
              <a:t>把专业服务包装成问题场景和内容路径，降低咨询门槛，适合长期经营律师 IP 与律所内容品牌。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690F3D-8877-4AAB-B186-3C74805C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80010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14B2D"/>
                </a:solidFill>
              </a:defRPr>
            </a:pPr>
            <a:r>
              <a:rPr sz="1500" b="1">
                <a:solidFill>
                  <a:srgbClr val="B14B2D"/>
                </a:solidFill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9326C7-8E86-4B35-A6C9-74272B5F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962900"/>
            <a:ext cx="645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色彩：纸感米白 + 砖红强调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6F4954-E319-4520-91B1-DB6D18F5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84772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14B2D"/>
                </a:solidFill>
              </a:defRPr>
            </a:pPr>
            <a:r>
              <a:rPr sz="1500" b="1">
                <a:solidFill>
                  <a:srgbClr val="B14B2D"/>
                </a:solidFill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AA1DDB-D894-4C93-8279-7A85B0BE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8439150"/>
            <a:ext cx="645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字体：编辑部式大标题 + 易读正文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2F3E25-5349-44BA-9494-2BC86022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8953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14B2D"/>
                </a:solidFill>
              </a:defRPr>
            </a:pPr>
            <a:r>
              <a:rPr sz="1500" b="1">
                <a:solidFill>
                  <a:srgbClr val="B14B2D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9D8E30-AB5D-43D5-B725-D2926FA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8915400"/>
            <a:ext cx="645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层级：先问题，再内容，再服务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DC253E-7C3C-44A0-8215-33C0A7DD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94107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14B2D"/>
                </a:solidFill>
              </a:defRPr>
            </a:pPr>
            <a:r>
              <a:rPr sz="1500" b="1">
                <a:solidFill>
                  <a:srgbClr val="B14B2D"/>
                </a:solidFill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74A559-3ACC-478F-A1EB-D7AA6C2D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9372600"/>
            <a:ext cx="6457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路径：阅读/收听 &gt; 自测清单 &gt; 咨询初筛</a:t>
            </a:r>
          </a:p>
        </p:txBody>
      </p:sp>
    </p:spTree>
    <p:extLst>
      <p:ext uri="{BB962C8B-B14F-4D97-AF65-F5344CB8AC3E}">
        <p14:creationId xmlns:p14="http://schemas.microsoft.com/office/powerpoint/2010/main" val="9907460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7FA030E4-D7DD-4DCF-BE40-E3952723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04BB375-D606-46E3-90E8-5C8886C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333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362F"/>
                </a:solidFill>
              </a:defRPr>
            </a:pPr>
            <a:r>
              <a:rPr sz="1350" b="1">
                <a:solidFill>
                  <a:srgbClr val="23362F"/>
                </a:solidFill>
              </a:rPr>
              <a:t>C / 现代精品所型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EEAED0-2AC6-4D3A-AAD7-3A081183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419850" cy="2057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827"/>
                </a:solidFill>
              </a:defRPr>
            </a:pPr>
            <a:r>
              <a:rPr sz="4500" b="1">
                <a:solidFill>
                  <a:srgbClr val="111827"/>
                </a:solidFill>
              </a:rPr>
              <a:t>简洁高级、私密可信，面向高净值个人与企业主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422A0D9-3BBC-4867-BD46-7D74A7DE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6267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6470"/>
                </a:solidFill>
              </a:defRPr>
            </a:pPr>
            <a:r>
              <a:rPr sz="2100">
                <a:solidFill>
                  <a:srgbClr val="5D6470"/>
                </a:solidFill>
              </a:rPr>
              <a:t>减少机构叙事，强调合伙人主导、私密沟通、服务边界和长期安排，适合精品化定位。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F51B9-D3B1-4A2F-A744-5D95944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362F"/>
                </a:solidFill>
              </a:defRPr>
            </a:pPr>
            <a:r>
              <a:rPr sz="1500" b="1">
                <a:solidFill>
                  <a:srgbClr val="23362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949FE-8699-424D-85E1-C7D24F57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96290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色彩：暖灰白 + 深松绿色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B64EF-382D-4952-9DE4-7B7AE334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772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362F"/>
                </a:solidFill>
              </a:defRPr>
            </a:pPr>
            <a:r>
              <a:rPr sz="1500" b="1">
                <a:solidFill>
                  <a:srgbClr val="23362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9597F-E145-4593-B226-B7ECF263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43915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字体：轻量宋体标题 + 留白布局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99504-0EDA-4CD7-AEBD-D0ECAF11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362F"/>
                </a:solidFill>
              </a:defRPr>
            </a:pPr>
            <a:r>
              <a:rPr sz="1500" b="1">
                <a:solidFill>
                  <a:srgbClr val="23362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71FC5-9C5B-45EE-A361-4942A51A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91540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层级：先服务关系，再律师责任人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BD8C0-13D0-41ED-B9FD-8C6A01D4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107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362F"/>
                </a:solidFill>
              </a:defRPr>
            </a:pPr>
            <a:r>
              <a:rPr sz="1500" b="1">
                <a:solidFill>
                  <a:srgbClr val="23362F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EBBEB-0DA4-4329-B7FC-E9D934F0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37260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路径：预约私密沟通 &gt; 了解服务方式</a:t>
            </a:r>
          </a:p>
        </p:txBody>
      </p:sp>
      <p:sp>
        <p:nvSpPr>
          <p:cNvPr id="13" name="homepage-boutique">
            <a:extLst xmlns:a="http://schemas.openxmlformats.org/drawingml/2006/main">
              <a:ext uri="{FF2B5EF4-FFF2-40B4-BE49-F238E27FC236}">
                <a16:creationId xmlns:a16="http://schemas.microsoft.com/office/drawing/2014/main" id="{609EAF48-1650-4586-BA66-9FC836E5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54555"/>
            <a:ext cx="9553575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50C0A-3B5E-44F7-B524-8DEEF64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1752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北京纬理律师事务所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AB16C-683B-4ADD-8233-FB954AD8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24574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470"/>
                </a:solidFill>
              </a:defRPr>
            </a:pPr>
            <a:r>
              <a:rPr sz="1125">
                <a:solidFill>
                  <a:srgbClr val="5D6470"/>
                </a:solidFill>
              </a:rPr>
              <a:t>专业领域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7C220-7EC7-4581-9CE8-E0313352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24574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470"/>
                </a:solidFill>
              </a:defRPr>
            </a:pPr>
            <a:r>
              <a:rPr sz="1125">
                <a:solidFill>
                  <a:srgbClr val="5D6470"/>
                </a:solidFill>
              </a:rPr>
              <a:t>律师团队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C7608-ED32-4C3C-B535-D82DB1D8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6850" y="2457450"/>
            <a:ext cx="590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470"/>
                </a:solidFill>
              </a:defRPr>
            </a:pPr>
            <a:r>
              <a:rPr sz="1125">
                <a:solidFill>
                  <a:srgbClr val="5D6470"/>
                </a:solidFill>
              </a:rPr>
              <a:t>案例洞察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73586-2C95-48B2-A72C-74F9013C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906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>
              <a:alpha val="13333"/>
            </a:srgbClr>
          </a:solidFill>
          <a:ln xmlns:a="http://schemas.openxmlformats.org/drawingml/2006/main" w="0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6AB47-13F1-41A6-AB70-9AAF829F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52900"/>
            <a:ext cx="50482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为关键资产与企业决策，提供安静而有力的支持</a:t>
            </a:r>
          </a:p>
        </p:txBody>
      </p:sp>
      <p:sp>
        <p:nvSpPr>
          <p:cNvPr id="20" name="small-copy">
            <a:extLst xmlns:a="http://schemas.openxmlformats.org/drawingml/2006/main">
              <a:ext uri="{FF2B5EF4-FFF2-40B4-BE49-F238E27FC236}">
                <a16:creationId xmlns:a16="http://schemas.microsoft.com/office/drawing/2014/main" id="{323B1416-E59C-4AAA-BE73-85B6D59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95900"/>
            <a:ext cx="4286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用少而准的服务入口面向高净值个人与企业主。</a:t>
            </a:r>
          </a:p>
        </p:txBody>
      </p:sp>
      <p:sp>
        <p:nvSpPr>
          <p:cNvPr id="21" name="chip-预约咨询">
            <a:extLst xmlns:a="http://schemas.openxmlformats.org/drawingml/2006/main">
              <a:ext uri="{FF2B5EF4-FFF2-40B4-BE49-F238E27FC236}">
                <a16:creationId xmlns:a16="http://schemas.microsoft.com/office/drawing/2014/main" id="{E87F4409-6788-410A-8B40-80674DF7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67413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36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DB845-6621-457F-9DCC-74ED53A4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769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预约咨询</a:t>
            </a:r>
          </a:p>
        </p:txBody>
      </p:sp>
      <p:sp>
        <p:nvSpPr>
          <p:cNvPr id="23" name="chip-服务方式">
            <a:extLst xmlns:a="http://schemas.openxmlformats.org/drawingml/2006/main">
              <a:ext uri="{FF2B5EF4-FFF2-40B4-BE49-F238E27FC236}">
                <a16:creationId xmlns:a16="http://schemas.microsoft.com/office/drawing/2014/main" id="{8C17079B-F435-41FC-B611-A9D1450C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803" y="5967413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6A281-FFB2-40CB-A777-43D05FED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0769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服务方式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AFFD3D-B399-47B1-8591-655B3808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981" y="3288030"/>
            <a:ext cx="3736419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5D7484-F3D9-4596-8940-DA88A400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3467100"/>
            <a:ext cx="339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核心信任信号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33065-E54F-4322-BD06-55D629BC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4362450"/>
            <a:ext cx="3390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362F"/>
                </a:solidFill>
              </a:defRPr>
            </a:pPr>
            <a:r>
              <a:rPr sz="1800" b="1">
                <a:solidFill>
                  <a:srgbClr val="23362F"/>
                </a:solidFill>
              </a:rPr>
              <a:t>批量案件管理 / 涉互联网争议 / 知识产权经验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31A056-B494-4196-A6C5-8F1DEC95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181600"/>
            <a:ext cx="1828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0156AA-3D5B-417F-8804-8E168C6D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5181600"/>
            <a:ext cx="1828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A2EB0-6E70-486A-8B3D-D24F1EA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6324600"/>
            <a:ext cx="1828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2413C-BB37-4438-A432-32DD67AF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0" y="6324600"/>
            <a:ext cx="1828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>
                <a:alpha val="13333"/>
              </a:srgbClr>
            </a:solidFill>
            <a:prstDash val="solid"/>
          </a:ln>
        </p:spPr>
      </p:sp>
      <p:sp>
        <p:nvSpPr>
          <p:cNvPr id="32" name="chip-私密咨询">
            <a:extLst xmlns:a="http://schemas.openxmlformats.org/drawingml/2006/main">
              <a:ext uri="{FF2B5EF4-FFF2-40B4-BE49-F238E27FC236}">
                <a16:creationId xmlns:a16="http://schemas.microsoft.com/office/drawing/2014/main" id="{EAB8D25E-609E-48A4-84A8-2CB91CD7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362F"/>
          </a:solidFill>
          <a:ln xmlns:a="http://schemas.openxmlformats.org/drawingml/2006/main" w="9525">
            <a:solidFill>
              <a:srgbClr val="23362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88CB2C-43E1-45C9-AFCA-61322817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私密咨询</a:t>
            </a:r>
          </a:p>
        </p:txBody>
      </p:sp>
      <p:sp>
        <p:nvSpPr>
          <p:cNvPr id="34" name="chip-精品服务">
            <a:extLst xmlns:a="http://schemas.openxmlformats.org/drawingml/2006/main">
              <a:ext uri="{FF2B5EF4-FFF2-40B4-BE49-F238E27FC236}">
                <a16:creationId xmlns:a16="http://schemas.microsoft.com/office/drawing/2014/main" id="{779E6BAE-0568-4817-91B3-F709389A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303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65DF93-950A-4526-9FC3-C3694C64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精品服务</a:t>
            </a:r>
          </a:p>
        </p:txBody>
      </p:sp>
      <p:sp>
        <p:nvSpPr>
          <p:cNvPr id="36" name="chip-责任律师">
            <a:extLst xmlns:a="http://schemas.openxmlformats.org/drawingml/2006/main">
              <a:ext uri="{FF2B5EF4-FFF2-40B4-BE49-F238E27FC236}">
                <a16:creationId xmlns:a16="http://schemas.microsoft.com/office/drawing/2014/main" id="{36C916C4-DE86-488E-BF10-6DA530A5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131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D55C1E-4626-43F9-AF32-B494BF9E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责任律师</a:t>
            </a:r>
          </a:p>
        </p:txBody>
      </p:sp>
      <p:sp>
        <p:nvSpPr>
          <p:cNvPr id="38" name="chip-决策观点">
            <a:extLst xmlns:a="http://schemas.openxmlformats.org/drawingml/2006/main">
              <a:ext uri="{FF2B5EF4-FFF2-40B4-BE49-F238E27FC236}">
                <a16:creationId xmlns:a16="http://schemas.microsoft.com/office/drawing/2014/main" id="{C0099F2B-EFF2-41B7-9B41-8B9B15C4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959" y="7717155"/>
            <a:ext cx="1119378" cy="4152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E5CFAB-95FF-4430-87E0-89915339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78295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470"/>
                </a:solidFill>
              </a:defRPr>
            </a:pPr>
            <a:r>
              <a:rPr sz="1350" b="1">
                <a:solidFill>
                  <a:srgbClr val="5D6470"/>
                </a:solidFill>
              </a:rPr>
              <a:t>决策观点</a:t>
            </a:r>
          </a:p>
        </p:txBody>
      </p:sp>
    </p:spTree>
    <p:extLst>
      <p:ext uri="{BB962C8B-B14F-4D97-AF65-F5344CB8AC3E}">
        <p14:creationId xmlns:p14="http://schemas.microsoft.com/office/powerpoint/2010/main" val="7418138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1DC05F23-360B-4EEE-A8DF-31E0915E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F5DECE8-1516-4B85-8181-277EED43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19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A661"/>
                </a:solidFill>
              </a:defRPr>
            </a:pPr>
            <a:r>
              <a:rPr sz="1350" b="1">
                <a:solidFill>
                  <a:srgbClr val="C6A661"/>
                </a:solidFill>
              </a:rPr>
              <a:t>DIRECTION COMPARISON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38B951-3B38-48B6-B8A8-64B25BA6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08966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三版不是换色，而是三种不同的信任建立方式</a:t>
            </a:r>
          </a:p>
        </p:txBody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C4C347E-2D52-4D68-A1F0-04FDDB71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590550"/>
            <a:ext cx="1352550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600" b="1">
                <a:solidFill>
                  <a:srgbClr val="C6A661"/>
                </a:solidFill>
              </a:defRPr>
            </a:pPr>
            <a:r>
              <a:rPr sz="9600" b="1">
                <a:solidFill>
                  <a:srgbClr val="C6A661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54A16-FCF5-4A3D-9574-130D627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0480"/>
            <a:ext cx="3894992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A2C94-8664-472C-A3C8-B5F0800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399C6-0EA6-4963-A8F8-EC2D784D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42" y="3840480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9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50744-5CD4-49DF-829E-CDCC6DA6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195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 高端商务型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A4B4A-1DE1-4177-AFA3-EE3BCF28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612" y="3840480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B2D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FCB8D-35CD-47F6-BBD1-676820F7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 内容品牌型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80EF6-2984-4DC2-8233-40AD223B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381" y="3840480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62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7A18D-8DD3-4A67-8680-130CF14F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0195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 现代精品所型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2121E-E2C7-4C0B-82D8-1BAD4F8B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1674"/>
            <a:ext cx="3894992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BAFC5-BD37-47FD-A6A6-7E04FE29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346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第一印象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FCBCF-C9ED-431A-B672-F53C2F8D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42" y="5011674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6047F-F4EC-4AF8-89CA-2FDDDC08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8160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权威、稳健、能处理大事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ECE9E-F9CE-428B-AA1F-7412EB1C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612" y="5011674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C137A-0929-4FD7-84CD-C17B40D7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8160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清晰、有温度、适合持续关注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71DFA-481B-4EAC-8744-48FC6CA7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381" y="5011674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CAFEC-EC28-449C-BD10-00C5A956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18160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高级、安静、私密可信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F8433-71BB-433C-A185-FCC49BB9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82868"/>
            <a:ext cx="3894992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C6093-5305-43FB-8C00-2E54FF5D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62700"/>
            <a:ext cx="346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内容重点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6BE911-C473-4794-B4AA-F1D69BD2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42" y="6182868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DC86B-F0F0-4E28-A4E4-070D5648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36270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代表案例、团队资历、服务保障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788247-DBDB-47FB-BC09-DAC1D920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612" y="6182868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69881C-9247-4DC7-AF74-1FBFAD07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6270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专栏、播客、普法专题、问题清单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0F045-B63F-4610-AAF0-EC37C025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381" y="6182868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AF306-79B5-41B3-A72C-C21718C7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36270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服务方式、责任律师、客户关系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474403-EEE2-47D1-8A96-3B2D04F4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54062"/>
            <a:ext cx="3894992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549D1-11EB-47C3-920D-0E8F7C71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346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适合客户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358743-0BE7-4EBF-902A-D0D85A8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42" y="7354062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B80FC1-8D3D-4D49-9D1D-184933BF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52475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企业、平台、机构、批量案件客户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6821AA-B40D-4EE8-9763-BF9DB4D9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612" y="7354062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FB9961-282B-4A3B-8D60-B932C7CB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52475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有搜索/内容触点的个人与企业客户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084FE4-7B31-4C21-B78B-25764F6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381" y="7354062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4AB765-32F0-4F58-A2FF-36A61750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752475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高净值个人、家族、企业主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1E6C32-C5A3-4428-88A2-78E841F3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25256"/>
            <a:ext cx="3894992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DA361D-58CC-45B8-85F3-FCDC326D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05850"/>
            <a:ext cx="3467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转化路径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1AC90F-3782-4655-9E2B-E9199B6C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42" y="8525256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110078-E6C9-46BA-B369-9D1CD14B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870585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直接预约合伙人评估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C3B779-9709-41B0-9827-637F49D8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612" y="8525256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DCCBAE-0AEC-4E51-9EF5-64FE7EC4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70585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内容信任后进入咨询初筛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001470-4A7D-4504-B15C-9C5D511A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5381" y="8525256"/>
            <a:ext cx="4327769" cy="1171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CD2C69-3B3F-4D79-91FA-2469ADA9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8705850"/>
            <a:ext cx="3905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私密沟通与服务边界确认</a:t>
            </a:r>
          </a:p>
        </p:txBody>
      </p:sp>
    </p:spTree>
    <p:extLst>
      <p:ext uri="{BB962C8B-B14F-4D97-AF65-F5344CB8AC3E}">
        <p14:creationId xmlns:p14="http://schemas.microsoft.com/office/powerpoint/2010/main" val="538729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4C85C59-9862-4FAD-80E7-0C23C3A6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9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BB38BE1-1855-49B8-8B05-6DFD8DF4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2228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14B2D"/>
                </a:solidFill>
              </a:defRPr>
            </a:pPr>
            <a:r>
              <a:rPr sz="1350" b="1">
                <a:solidFill>
                  <a:srgbClr val="B14B2D"/>
                </a:solidFill>
              </a:rPr>
              <a:t>CONTENT ARCHITECTURE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DFCAC4-5CE4-472B-8335-1B52A7A3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7750"/>
            <a:ext cx="64198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827"/>
                </a:solidFill>
              </a:defRPr>
            </a:pPr>
            <a:r>
              <a:rPr sz="4500" b="1">
                <a:solidFill>
                  <a:srgbClr val="111827"/>
                </a:solidFill>
              </a:rPr>
              <a:t>无论选哪版，都建议先搭好这些内容资产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41D3AC5-C514-45C3-AABF-B466945A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6534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6470"/>
                </a:solidFill>
              </a:defRPr>
            </a:pPr>
            <a:r>
              <a:rPr sz="2100">
                <a:solidFill>
                  <a:srgbClr val="5D6470"/>
                </a:solidFill>
              </a:rPr>
              <a:t>响应文件里已经有很多可复用的专业证据，下一步要把投标语言改写成客户能快速理解的网站语言。</a:t>
            </a:r>
          </a:p>
        </p:txBody>
      </p:sp>
      <p:sp>
        <p:nvSpPr>
          <p:cNvPr id="5" name="small-copy">
            <a:extLst xmlns:a="http://schemas.openxmlformats.org/drawingml/2006/main">
              <a:ext uri="{FF2B5EF4-FFF2-40B4-BE49-F238E27FC236}">
                <a16:creationId xmlns:a16="http://schemas.microsoft.com/office/drawing/2014/main" id="{0F7B465E-ED08-472C-9569-36239944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63050"/>
            <a:ext cx="6534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内容转写原则：少用自我表扬，多用事实、机制、案例类型、响应时限和律师责任人。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B5BA3-4BEA-4382-A9E0-4E8C7315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993" y="647700"/>
            <a:ext cx="4457128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19B98-8F29-4DCE-B20D-613BDE70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91440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A661"/>
          </a:solidFill>
          <a:ln xmlns:a="http://schemas.openxmlformats.org/drawingml/2006/main" w="9525">
            <a:solidFill>
              <a:srgbClr val="C6A66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67AC3-EEE8-48D8-9B24-87375DDA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392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专业领域页</a:t>
            </a:r>
          </a:p>
        </p:txBody>
      </p:sp>
      <p:sp>
        <p:nvSpPr>
          <p:cNvPr id="9" name="small-copy">
            <a:extLst xmlns:a="http://schemas.openxmlformats.org/drawingml/2006/main">
              <a:ext uri="{FF2B5EF4-FFF2-40B4-BE49-F238E27FC236}">
                <a16:creationId xmlns:a16="http://schemas.microsoft.com/office/drawing/2014/main" id="{D0AA5C96-CA3F-4473-83E6-3A9255F4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86250"/>
            <a:ext cx="4705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涉互联网纠纷、知识产权、公司业务、金融保险、批量案件应诉。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750A9-5137-4774-9002-0F5C6E8D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722" y="647700"/>
            <a:ext cx="4457128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AC668-2503-4E32-86DB-9C1B82F7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91440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A661"/>
          </a:solidFill>
          <a:ln xmlns:a="http://schemas.openxmlformats.org/drawingml/2006/main" w="9525">
            <a:solidFill>
              <a:srgbClr val="C6A6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BBD3E-ADC4-45E4-B30C-359CE6C2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3810000"/>
            <a:ext cx="392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律师团队页</a:t>
            </a:r>
          </a:p>
        </p:txBody>
      </p:sp>
      <p:sp>
        <p:nvSpPr>
          <p:cNvPr id="13" name="small-copy">
            <a:extLst xmlns:a="http://schemas.openxmlformats.org/drawingml/2006/main">
              <a:ext uri="{FF2B5EF4-FFF2-40B4-BE49-F238E27FC236}">
                <a16:creationId xmlns:a16="http://schemas.microsoft.com/office/drawing/2014/main" id="{59BD85A2-F53E-4B75-99AE-C831BE60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286250"/>
            <a:ext cx="4705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柴云乐、徐爽、孙海波、刘静等，突出角色、经验、代表业绩。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78829-A089-43EC-B296-36842775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993" y="5257800"/>
            <a:ext cx="4457128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0839B-5AFE-4C7F-BD91-935E0422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2450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A661"/>
          </a:solidFill>
          <a:ln xmlns:a="http://schemas.openxmlformats.org/drawingml/2006/main" w="9525">
            <a:solidFill>
              <a:srgbClr val="C6A6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03486-9E4C-4561-9422-1E447FAF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420100"/>
            <a:ext cx="392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案例洞察页</a:t>
            </a:r>
          </a:p>
        </p:txBody>
      </p:sp>
      <p:sp>
        <p:nvSpPr>
          <p:cNvPr id="17" name="small-copy">
            <a:extLst xmlns:a="http://schemas.openxmlformats.org/drawingml/2006/main">
              <a:ext uri="{FF2B5EF4-FFF2-40B4-BE49-F238E27FC236}">
                <a16:creationId xmlns:a16="http://schemas.microsoft.com/office/drawing/2014/main" id="{F8069F5A-F13E-4BED-9E63-DA6453FD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896350"/>
            <a:ext cx="4705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最高法提审改判、平台公司批量案件、电子证据经验等转化为专题。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4C57E-985B-4D53-8B14-8DD68ABE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722" y="5257800"/>
            <a:ext cx="4457128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19748-1A87-4FC0-ACF2-3241532F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24500"/>
            <a:ext cx="514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A661"/>
          </a:solidFill>
          <a:ln xmlns:a="http://schemas.openxmlformats.org/drawingml/2006/main" w="9525">
            <a:solidFill>
              <a:srgbClr val="C6A6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F1799-6587-4212-BAB8-2357C7AB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8172450"/>
            <a:ext cx="3924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咨询流程页</a:t>
            </a:r>
          </a:p>
        </p:txBody>
      </p:sp>
      <p:sp>
        <p:nvSpPr>
          <p:cNvPr id="21" name="small-copy">
            <a:extLst xmlns:a="http://schemas.openxmlformats.org/drawingml/2006/main">
              <a:ext uri="{FF2B5EF4-FFF2-40B4-BE49-F238E27FC236}">
                <a16:creationId xmlns:a16="http://schemas.microsoft.com/office/drawing/2014/main" id="{98EBB266-1D49-40A1-95E6-3D9AADC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8648700"/>
            <a:ext cx="3886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470"/>
                </a:solidFill>
              </a:defRPr>
            </a:pPr>
            <a:r>
              <a:rPr sz="1575">
                <a:solidFill>
                  <a:srgbClr val="5D6470"/>
                </a:solidFill>
              </a:rPr>
              <a:t>2 小时紧急响应、1 个工作日常规反馈、保密与利冲排查机制。</a:t>
            </a:r>
          </a:p>
        </p:txBody>
      </p:sp>
    </p:spTree>
    <p:extLst>
      <p:ext uri="{BB962C8B-B14F-4D97-AF65-F5344CB8AC3E}">
        <p14:creationId xmlns:p14="http://schemas.microsoft.com/office/powerpoint/2010/main" val="4185493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E04B0EB-0C23-4E8B-84DB-18F049FB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9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3C869CD-FFD6-4C86-9E97-F424366B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A661"/>
                </a:solidFill>
              </a:defRPr>
            </a:pPr>
            <a:r>
              <a:rPr sz="1350" b="1">
                <a:solidFill>
                  <a:srgbClr val="C6A661"/>
                </a:solidFill>
              </a:rPr>
              <a:t>NEXT STEP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4E0C82-0F4F-4ED1-86C7-88457CD7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702945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建议先用 A 建立权威底座，再吸收 B 的内容转化能力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098F706-777B-4E4C-8282-04286857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7620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C9D0D8"/>
                </a:solidFill>
              </a:defRPr>
            </a:pPr>
            <a:r>
              <a:rPr sz="2175">
                <a:solidFill>
                  <a:srgbClr val="C9D0D8"/>
                </a:solidFill>
              </a:rPr>
              <a:t>如果北京纬理希望同时面向企业客户与互联网相关批量案件市场，A 版最能承接响应文件中的专业与机制优势；B 版的内容中心可作为二期增长模块；C 版适合另开精品服务线。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1B2A7-52CD-4132-92C7-5FA9C3E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7848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C6A661"/>
                </a:solidFill>
              </a:defRPr>
            </a:pPr>
            <a:r>
              <a:rPr sz="4350" b="1">
                <a:solidFill>
                  <a:srgbClr val="C6A661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80DF8-C51C-43DB-BEE7-55F0F35E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908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首选主站方向</a:t>
            </a:r>
          </a:p>
        </p:txBody>
      </p:sp>
      <p:sp>
        <p:nvSpPr>
          <p:cNvPr id="7" name="small-copy">
            <a:extLst xmlns:a="http://schemas.openxmlformats.org/drawingml/2006/main">
              <a:ext uri="{FF2B5EF4-FFF2-40B4-BE49-F238E27FC236}">
                <a16:creationId xmlns:a16="http://schemas.microsoft.com/office/drawing/2014/main" id="{7F7EFF73-A62F-4E25-9BDC-48321541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90900"/>
            <a:ext cx="3886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0CA"/>
                </a:solidFill>
              </a:defRPr>
            </a:pPr>
            <a:r>
              <a:rPr sz="1575">
                <a:solidFill>
                  <a:srgbClr val="B9C0CA"/>
                </a:solidFill>
              </a:rPr>
              <a:t>稳重权威，最适合承接涉互联网纠纷、知产与批量诉讼服务能力。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196D9-6FEE-4DA7-86C3-16EE6060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76700"/>
            <a:ext cx="784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E1B7B-0954-4DA9-ABBD-98129ED2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05300"/>
            <a:ext cx="7848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B14B2D"/>
                </a:solidFill>
              </a:defRPr>
            </a:pPr>
            <a:r>
              <a:rPr sz="4350" b="1">
                <a:solidFill>
                  <a:srgbClr val="B14B2D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1CCC9-ABA6-4C0B-8404-89140EF2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1054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内容增长模块</a:t>
            </a:r>
          </a:p>
        </p:txBody>
      </p:sp>
      <p:sp>
        <p:nvSpPr>
          <p:cNvPr id="11" name="small-copy">
            <a:extLst xmlns:a="http://schemas.openxmlformats.org/drawingml/2006/main">
              <a:ext uri="{FF2B5EF4-FFF2-40B4-BE49-F238E27FC236}">
                <a16:creationId xmlns:a16="http://schemas.microsoft.com/office/drawing/2014/main" id="{820583D2-FE40-4DA5-B28A-911BD2DD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505450"/>
            <a:ext cx="3886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0CA"/>
                </a:solidFill>
              </a:defRPr>
            </a:pPr>
            <a:r>
              <a:rPr sz="1575">
                <a:solidFill>
                  <a:srgbClr val="B9C0CA"/>
                </a:solidFill>
              </a:rPr>
              <a:t>用专栏、播客、案例观察持续积累搜索与私域信任。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55ABD-E39C-426F-A2F2-1A11DA87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91250"/>
            <a:ext cx="784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3E068-3CDE-4C32-A78B-44F45576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419850"/>
            <a:ext cx="7848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8FB6A0"/>
                </a:solidFill>
              </a:defRPr>
            </a:pPr>
            <a:r>
              <a:rPr sz="4350" b="1">
                <a:solidFill>
                  <a:srgbClr val="8FB6A0"/>
                </a:solidFill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0EF1F-FD13-46DA-9842-F9CA5EBE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2199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精品业务支线</a:t>
            </a:r>
          </a:p>
        </p:txBody>
      </p:sp>
      <p:sp>
        <p:nvSpPr>
          <p:cNvPr id="15" name="small-copy">
            <a:extLst xmlns:a="http://schemas.openxmlformats.org/drawingml/2006/main">
              <a:ext uri="{FF2B5EF4-FFF2-40B4-BE49-F238E27FC236}">
                <a16:creationId xmlns:a16="http://schemas.microsoft.com/office/drawing/2014/main" id="{62F86DD4-9F9B-405F-A42E-28C43714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620000"/>
            <a:ext cx="3886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B9C0CA"/>
                </a:solidFill>
              </a:defRPr>
            </a:pPr>
            <a:r>
              <a:rPr sz="1575">
                <a:solidFill>
                  <a:srgbClr val="B9C0CA"/>
                </a:solidFill>
              </a:rPr>
              <a:t>面向高净值个人与企业主的私密咨询可单独形成服务入口。</a:t>
            </a:r>
          </a:p>
        </p:txBody>
      </p:sp>
    </p:spTree>
    <p:extLst>
      <p:ext uri="{BB962C8B-B14F-4D97-AF65-F5344CB8AC3E}">
        <p14:creationId xmlns:p14="http://schemas.microsoft.com/office/powerpoint/2010/main" val="190215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2026-04-30T03:21:35.2040000Z</dcterms:created>
  <dcterms:modified xsi:type="dcterms:W3CDTF">2026-04-30T03:21:35.2040000Z</dcterms:modified>
</coreProperties>
</file>