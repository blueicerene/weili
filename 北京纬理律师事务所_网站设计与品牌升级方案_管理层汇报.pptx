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9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2990850"/>
            <a:ext cx="1219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01 / WHY NOW</a:t>
            </a:r>
            <a:endParaRPr sz="1350" b="1">
              <a:solidFill>
                <a:srgbClr val="C6A6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38200" y="3676650"/>
            <a:ext cx="7391400" cy="1752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>
                <a:solidFill>
                  <a:srgbClr val="FFFFFF"/>
                </a:solidFill>
              </a:defRPr>
            </a:pPr>
            <a:r>
              <a:rPr>
                <a:solidFill>
                  <a:srgbClr val="C6A661"/>
                </a:solidFill>
                <a:sym typeface="+mn-ea"/>
              </a:rPr>
              <a:t>网站不是形象工程，而是信任前置的基础设施</a:t>
            </a:r>
            <a:endParaRPr sz="570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38200" y="5821045"/>
            <a:ext cx="76200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>
                <a:solidFill>
                  <a:srgbClr val="C9D0D8"/>
                </a:solidFill>
              </a:defRPr>
            </a:pPr>
            <a:r>
              <a:rPr sz="2025">
                <a:solidFill>
                  <a:srgbClr val="C9D0D8"/>
                </a:solidFill>
              </a:rPr>
              <a:t>如果不升级，纬理的专业能力仍主要依赖熟人介绍和线下解释：获客不可复制，品牌不可沉淀，内容无法形成长期资产。</a:t>
            </a:r>
            <a:endParaRPr sz="2025">
              <a:solidFill>
                <a:srgbClr val="C9D0D8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9885045" y="685800"/>
            <a:ext cx="7564755" cy="4343400"/>
          </a:xfrm>
          <a:prstGeom prst="roundRect">
            <a:avLst>
              <a:gd name="adj" fmla="val 1754"/>
            </a:avLst>
          </a:prstGeom>
          <a:solidFill>
            <a:srgbClr val="FFFFFF">
              <a:alpha val="5098"/>
            </a:srgbClr>
          </a:solidFill>
          <a:ln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210800" y="2438400"/>
            <a:ext cx="69151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当前模式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10800" y="2990850"/>
            <a:ext cx="52578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C9D0D8"/>
                </a:solidFill>
              </a:defRPr>
            </a:pPr>
            <a:r>
              <a:rPr sz="1875">
                <a:solidFill>
                  <a:srgbClr val="C9D0D8"/>
                </a:solidFill>
              </a:rPr>
              <a:t>熟人介绍 / 临场解释 / 信息分散 / 能力难以规模化</a:t>
            </a:r>
            <a:endParaRPr sz="1875">
              <a:solidFill>
                <a:srgbClr val="C9D0D8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885045" y="5257800"/>
            <a:ext cx="7564755" cy="4343400"/>
          </a:xfrm>
          <a:prstGeom prst="roundRect">
            <a:avLst>
              <a:gd name="adj" fmla="val 1754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210800" y="6858000"/>
            <a:ext cx="69151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0B1119"/>
                </a:solidFill>
              </a:defRPr>
            </a:pPr>
            <a:r>
              <a:rPr sz="2550" b="1">
                <a:solidFill>
                  <a:srgbClr val="0B1119"/>
                </a:solidFill>
              </a:rPr>
              <a:t>目标模式</a:t>
            </a:r>
            <a:endParaRPr sz="2550" b="1">
              <a:solidFill>
                <a:srgbClr val="0B1119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210800" y="7429500"/>
            <a:ext cx="50101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1E2936"/>
                </a:solidFill>
              </a:defRPr>
            </a:pPr>
            <a:r>
              <a:rPr sz="1875">
                <a:solidFill>
                  <a:srgbClr val="1E2936"/>
                </a:solidFill>
              </a:rPr>
              <a:t>线上信任 / 清晰分流 / 有效咨询 / 内容持续沉淀</a:t>
            </a:r>
            <a:endParaRPr sz="1875">
              <a:solidFill>
                <a:srgbClr val="1E293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6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21526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02 / BUSINESS QUESTIONS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66675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276350"/>
            <a:ext cx="68199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本项目要解决的三个业务问题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647950"/>
            <a:ext cx="5314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如果网站不能回答这三个问题，它就只是成本。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3272790"/>
            <a:ext cx="5372100" cy="6442710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1104900" y="3543300"/>
            <a:ext cx="5524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4514850"/>
            <a:ext cx="480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可信证据栈</a:t>
            </a:r>
            <a:endParaRPr sz="1500" b="1">
              <a:solidFill>
                <a:srgbClr val="C6A661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104900" y="4904423"/>
            <a:ext cx="4800600" cy="552450"/>
          </a:xfrm>
          <a:prstGeom prst="roundRect">
            <a:avLst>
              <a:gd name="adj" fmla="val 13793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14450" y="502920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团队履历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104900" y="5609273"/>
            <a:ext cx="4800600" cy="552450"/>
          </a:xfrm>
          <a:prstGeom prst="roundRect">
            <a:avLst>
              <a:gd name="adj" fmla="val 13793"/>
            </a:avLst>
          </a:prstGeom>
          <a:solidFill>
            <a:srgbClr val="EAE2D2"/>
          </a:solidFill>
          <a:ln w="9525">
            <a:solidFill>
              <a:srgbClr val="EAE2D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14450" y="57340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服务机制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104900" y="6314123"/>
            <a:ext cx="4800600" cy="552450"/>
          </a:xfrm>
          <a:prstGeom prst="roundRect">
            <a:avLst>
              <a:gd name="adj" fmla="val 13793"/>
            </a:avLst>
          </a:prstGeom>
          <a:solidFill>
            <a:srgbClr val="DFD4BE"/>
          </a:solidFill>
          <a:ln w="9525">
            <a:solidFill>
              <a:srgbClr val="DFD4BE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14450" y="643890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代表经验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04900" y="7018973"/>
            <a:ext cx="4800600" cy="552450"/>
          </a:xfrm>
          <a:prstGeom prst="roundRect">
            <a:avLst>
              <a:gd name="adj" fmla="val 13793"/>
            </a:avLst>
          </a:prstGeom>
          <a:solidFill>
            <a:srgbClr val="0B1119"/>
          </a:solidFill>
          <a:ln w="9525">
            <a:solidFill>
              <a:srgbClr val="0B111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14450" y="7143750"/>
            <a:ext cx="4381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客户判断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04900" y="8477250"/>
            <a:ext cx="4800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客户为什么相信纬理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4900" y="8934450"/>
            <a:ext cx="49149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把团队履历、服务机制、代表经验转化为可感知的可信证据。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457950" y="3272790"/>
            <a:ext cx="5372100" cy="6442710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6743700" y="3543300"/>
            <a:ext cx="5524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743700" y="4762500"/>
            <a:ext cx="480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从犹豫到咨询</a:t>
            </a:r>
            <a:endParaRPr sz="1500" b="1">
              <a:solidFill>
                <a:srgbClr val="C6A661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810375" y="5163503"/>
            <a:ext cx="4667250" cy="476250"/>
          </a:xfrm>
          <a:prstGeom prst="roundRect">
            <a:avLst>
              <a:gd name="adj" fmla="val 16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991350" y="5276850"/>
            <a:ext cx="4324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看到问题入口</a:t>
            </a:r>
            <a:endParaRPr sz="1425" b="1">
              <a:solidFill>
                <a:srgbClr val="111827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286625" y="5811203"/>
            <a:ext cx="3714750" cy="476250"/>
          </a:xfrm>
          <a:prstGeom prst="roundRect">
            <a:avLst>
              <a:gd name="adj" fmla="val 16000"/>
            </a:avLst>
          </a:prstGeom>
          <a:solidFill>
            <a:srgbClr val="EAE2D2"/>
          </a:solidFill>
          <a:ln w="9525">
            <a:solidFill>
              <a:srgbClr val="EAE2D2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467600" y="592455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理解服务边界</a:t>
            </a:r>
            <a:endParaRPr sz="1425" b="1">
              <a:solidFill>
                <a:srgbClr val="111827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762875" y="6458903"/>
            <a:ext cx="2762250" cy="476250"/>
          </a:xfrm>
          <a:prstGeom prst="roundRect">
            <a:avLst>
              <a:gd name="adj" fmla="val 16000"/>
            </a:avLst>
          </a:prstGeom>
          <a:solidFill>
            <a:srgbClr val="DFD4BE"/>
          </a:solidFill>
          <a:ln w="9525">
            <a:solidFill>
              <a:srgbClr val="DFD4B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943850" y="6572250"/>
            <a:ext cx="2419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确认保密与响应</a:t>
            </a:r>
            <a:endParaRPr sz="1425" b="1">
              <a:solidFill>
                <a:srgbClr val="111827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239125" y="7106603"/>
            <a:ext cx="1809750" cy="476250"/>
          </a:xfrm>
          <a:prstGeom prst="roundRect">
            <a:avLst>
              <a:gd name="adj" fmla="val 16000"/>
            </a:avLst>
          </a:prstGeom>
          <a:solidFill>
            <a:srgbClr val="0B1119"/>
          </a:solidFill>
          <a:ln w="9525">
            <a:solidFill>
              <a:srgbClr val="0B111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420100" y="7219950"/>
            <a:ext cx="1466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提交有效咨询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743700" y="8724900"/>
            <a:ext cx="4800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客户如何开始咨询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743700" y="9182100"/>
            <a:ext cx="4705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让咨询路径清楚、安全、低压力，减少客户犹豫。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2096750" y="3272790"/>
            <a:ext cx="5372100" cy="6442710"/>
          </a:xfrm>
          <a:prstGeom prst="roundRect">
            <a:avLst>
              <a:gd name="adj" fmla="val 141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12382500" y="3543300"/>
            <a:ext cx="5524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2382500" y="4781550"/>
            <a:ext cx="4800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C6A661"/>
                </a:solidFill>
              </a:defRPr>
            </a:pPr>
            <a:r>
              <a:rPr sz="1500" b="1">
                <a:solidFill>
                  <a:srgbClr val="C6A661"/>
                </a:solidFill>
              </a:rPr>
              <a:t>人才价值识别</a:t>
            </a:r>
            <a:endParaRPr sz="1500" b="1">
              <a:solidFill>
                <a:srgbClr val="C6A661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12382500" y="5182553"/>
            <a:ext cx="2333625" cy="1123950"/>
          </a:xfrm>
          <a:prstGeom prst="roundRect">
            <a:avLst>
              <a:gd name="adj" fmla="val 6780"/>
            </a:avLst>
          </a:prstGeom>
          <a:solidFill>
            <a:srgbClr val="F7F2E8"/>
          </a:solidFill>
          <a:ln w="9525">
            <a:solidFill>
              <a:srgbClr val="E7DCC6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2553950" y="5353050"/>
            <a:ext cx="2000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案件质量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14849475" y="5182553"/>
            <a:ext cx="2333625" cy="1123950"/>
          </a:xfrm>
          <a:prstGeom prst="roundRect">
            <a:avLst>
              <a:gd name="adj" fmla="val 6780"/>
            </a:avLst>
          </a:prstGeom>
          <a:solidFill>
            <a:srgbClr val="F7F2E8"/>
          </a:solidFill>
          <a:ln w="9525">
            <a:solidFill>
              <a:srgbClr val="E7DCC6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5030450" y="5353050"/>
            <a:ext cx="2000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平台能力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12382500" y="6439853"/>
            <a:ext cx="2333625" cy="1123950"/>
          </a:xfrm>
          <a:prstGeom prst="roundRect">
            <a:avLst>
              <a:gd name="adj" fmla="val 6780"/>
            </a:avLst>
          </a:prstGeom>
          <a:solidFill>
            <a:srgbClr val="F7F2E8"/>
          </a:solidFill>
          <a:ln w="9525">
            <a:solidFill>
              <a:srgbClr val="E7DCC6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2553950" y="6610350"/>
            <a:ext cx="2000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成长机制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14849475" y="6439853"/>
            <a:ext cx="2333625" cy="1123950"/>
          </a:xfrm>
          <a:prstGeom prst="roundRect">
            <a:avLst>
              <a:gd name="adj" fmla="val 6780"/>
            </a:avLst>
          </a:prstGeom>
          <a:solidFill>
            <a:srgbClr val="0B1119"/>
          </a:solidFill>
          <a:ln w="9525">
            <a:solidFill>
              <a:srgbClr val="0B1119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5030450" y="6610350"/>
            <a:ext cx="2000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表达空间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12382500" y="8724900"/>
            <a:ext cx="4800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优秀律师为什么选择纬理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2382500" y="9182100"/>
            <a:ext cx="4705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展示平台能力、案件质量、成长机制和表达空间。</a:t>
            </a:r>
            <a:endParaRPr sz="1650">
              <a:solidFill>
                <a:srgbClr val="66707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6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3906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03 / TRUST SHIFT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66675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276350"/>
            <a:ext cx="57721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行业变化：信任正在前置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038350"/>
            <a:ext cx="55626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客户不是先联系，再信任；而是先判断，再联系。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4457700"/>
            <a:ext cx="287274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4629150"/>
            <a:ext cx="24955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搜索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810000" y="47244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63390" y="4457700"/>
            <a:ext cx="287274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57700" y="4629150"/>
            <a:ext cx="24955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进入网站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58050" y="47244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707630" y="4457700"/>
            <a:ext cx="287274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905750" y="4629150"/>
            <a:ext cx="24955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判断专业度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87050" y="47244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1151870" y="4457700"/>
            <a:ext cx="287274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334750" y="4629150"/>
            <a:ext cx="24955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查看团队 / 案例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135100" y="47244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4596110" y="4457700"/>
            <a:ext cx="287274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4782800" y="4629150"/>
            <a:ext cx="24955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发起咨询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5734050"/>
            <a:ext cx="53911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C6A661"/>
                </a:solidFill>
              </a:defRPr>
            </a:pPr>
            <a:r>
              <a:rPr sz="4650" b="1">
                <a:solidFill>
                  <a:srgbClr val="C6A661"/>
                </a:solidFill>
              </a:rPr>
              <a:t>01</a:t>
            </a:r>
            <a:endParaRPr sz="4650" b="1">
              <a:solidFill>
                <a:srgbClr val="C6A66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6534150"/>
            <a:ext cx="5391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客户先做判断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9150" y="6915150"/>
            <a:ext cx="40767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6707D"/>
                </a:solidFill>
              </a:defRPr>
            </a:pPr>
            <a:r>
              <a:rPr sz="1575">
                <a:solidFill>
                  <a:srgbClr val="66707D"/>
                </a:solidFill>
              </a:rPr>
              <a:t>网站、履历、案例、文章与第三方信息共同构成第一印象。</a:t>
            </a:r>
            <a:endParaRPr sz="1575">
              <a:solidFill>
                <a:srgbClr val="66707D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57950" y="5734050"/>
            <a:ext cx="53911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C6A661"/>
                </a:solidFill>
              </a:defRPr>
            </a:pPr>
            <a:r>
              <a:rPr sz="4650" b="1">
                <a:solidFill>
                  <a:srgbClr val="C6A661"/>
                </a:solidFill>
              </a:rPr>
              <a:t>02</a:t>
            </a:r>
            <a:endParaRPr sz="4650" b="1">
              <a:solidFill>
                <a:srgbClr val="C6A66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457950" y="6534150"/>
            <a:ext cx="5391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专业需要结构化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457950" y="6915150"/>
            <a:ext cx="40767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6707D"/>
                </a:solidFill>
              </a:defRPr>
            </a:pPr>
            <a:r>
              <a:rPr sz="1575">
                <a:solidFill>
                  <a:srgbClr val="66707D"/>
                </a:solidFill>
              </a:rPr>
              <a:t>高质量客户需要快速理解：是否专业、是否处理过类似问题。</a:t>
            </a:r>
            <a:endParaRPr sz="1575">
              <a:solidFill>
                <a:srgbClr val="66707D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2077700" y="5734050"/>
            <a:ext cx="53911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C6A661"/>
                </a:solidFill>
              </a:defRPr>
            </a:pPr>
            <a:r>
              <a:rPr sz="4650" b="1">
                <a:solidFill>
                  <a:srgbClr val="C6A661"/>
                </a:solidFill>
              </a:rPr>
              <a:t>03</a:t>
            </a:r>
            <a:endParaRPr sz="4650" b="1">
              <a:solidFill>
                <a:srgbClr val="C6A661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077700" y="6534150"/>
            <a:ext cx="53911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线上资产会积累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077700" y="6915150"/>
            <a:ext cx="40767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6707D"/>
                </a:solidFill>
              </a:defRPr>
            </a:pPr>
            <a:r>
              <a:rPr sz="1575">
                <a:solidFill>
                  <a:srgbClr val="66707D"/>
                </a:solidFill>
              </a:rPr>
              <a:t>越早建设，越早沉淀品牌、搜索、内容和客户判断资产。</a:t>
            </a:r>
            <a:endParaRPr sz="1575">
              <a:solidFill>
                <a:srgbClr val="66707D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6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7716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04 / MARKET MODELS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66675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276350"/>
            <a:ext cx="47244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律所网站的三种模式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647950"/>
            <a:ext cx="45529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不复制大所，不停留目录，不做泛内容。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3067050"/>
            <a:ext cx="5397500" cy="421767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904875" y="3272155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85850" y="6057900"/>
            <a:ext cx="4857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大所权威型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85850" y="6515100"/>
            <a:ext cx="4705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天然信任强，但依赖规模、品牌历史和大量案例，不可直接复制。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445250" y="3067050"/>
            <a:ext cx="5397500" cy="421767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6705600" y="3272155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705600" y="6057900"/>
            <a:ext cx="4857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信息目录型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6515100"/>
            <a:ext cx="4705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上线成本低，但无差异、无转化，无法支撑客户决策。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2071350" y="3067050"/>
            <a:ext cx="5397500" cy="421767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12236450" y="3272155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344400" y="6057900"/>
            <a:ext cx="4857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内容驱动型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344400" y="6515100"/>
            <a:ext cx="4705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有流量和粘性，但容易缺少机构背书与专业权威感。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19150" y="7532370"/>
            <a:ext cx="16649700" cy="822960"/>
          </a:xfrm>
          <a:prstGeom prst="roundRect">
            <a:avLst>
              <a:gd name="adj" fmla="val 9259"/>
            </a:avLst>
          </a:prstGeom>
          <a:solidFill>
            <a:srgbClr val="0B1119"/>
          </a:solidFill>
          <a:ln w="9525">
            <a:solidFill>
              <a:srgbClr val="0B111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143000" y="7753350"/>
            <a:ext cx="118491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纬理的新模型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992100" y="7772400"/>
            <a:ext cx="41529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C6A661"/>
                </a:solidFill>
              </a:defRPr>
            </a:pPr>
            <a:r>
              <a:rPr sz="2250" b="1">
                <a:solidFill>
                  <a:srgbClr val="C6A661"/>
                </a:solidFill>
              </a:rPr>
              <a:t>专业背书 + 内容转化 + 机制信任</a:t>
            </a:r>
            <a:endParaRPr sz="2250" b="1">
              <a:solidFill>
                <a:srgbClr val="C6A661"/>
              </a:solidFill>
            </a:endParaRPr>
          </a:p>
        </p:txBody>
      </p:sp>
      <p:pic>
        <p:nvPicPr>
          <p:cNvPr id="22" name="图片 21" descr="截屏2026-04-29 下午11.57.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3503295"/>
            <a:ext cx="5347970" cy="2559050"/>
          </a:xfrm>
          <a:prstGeom prst="rect">
            <a:avLst/>
          </a:prstGeom>
        </p:spPr>
      </p:pic>
      <p:pic>
        <p:nvPicPr>
          <p:cNvPr id="23" name="图片 22" descr="截屏2026-04-29 下午11.58.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50" y="3503295"/>
            <a:ext cx="5347970" cy="2432050"/>
          </a:xfrm>
          <a:prstGeom prst="rect">
            <a:avLst/>
          </a:prstGeom>
        </p:spPr>
      </p:pic>
      <p:pic>
        <p:nvPicPr>
          <p:cNvPr id="24" name="图片 23" descr="截屏2026-04-30 上午12.11.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5035" y="3449320"/>
            <a:ext cx="4437380" cy="26168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6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790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05 / CORE CAPABILITY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66675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276350"/>
            <a:ext cx="525780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纬理可放大的核心能力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647950"/>
            <a:ext cx="48006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真正可放大的，不是简介，而是能力结构。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5810250"/>
            <a:ext cx="72390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C6A661"/>
                </a:solidFill>
              </a:defRPr>
            </a:pPr>
            <a:r>
              <a:rPr sz="4650" b="1">
                <a:solidFill>
                  <a:srgbClr val="C6A661"/>
                </a:solidFill>
              </a:rPr>
              <a:t>核心</a:t>
            </a:r>
            <a:endParaRPr sz="4650" b="1">
              <a:solidFill>
                <a:srgbClr val="C6A661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6610350"/>
            <a:ext cx="72390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新型复杂问题解决能力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6991350"/>
            <a:ext cx="40767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6707D"/>
                </a:solidFill>
              </a:defRPr>
            </a:pPr>
            <a:r>
              <a:rPr sz="1575">
                <a:solidFill>
                  <a:srgbClr val="66707D"/>
                </a:solidFill>
              </a:rPr>
              <a:t>纬理的优势不是业务范围多，而是能够处理互联网、平台、批量案件和新型争议。</a:t>
            </a:r>
            <a:endParaRPr sz="1575">
              <a:solidFill>
                <a:srgbClr val="66707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615363" y="4423410"/>
            <a:ext cx="8853488" cy="781050"/>
          </a:xfrm>
          <a:prstGeom prst="roundRect">
            <a:avLst>
              <a:gd name="adj" fmla="val 9756"/>
            </a:avLst>
          </a:prstGeom>
          <a:solidFill>
            <a:srgbClr val="0B1119"/>
          </a:solidFill>
          <a:ln w="9525">
            <a:solidFill>
              <a:srgbClr val="0B111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877300" y="4610100"/>
            <a:ext cx="83248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司法视角 + 业务理解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615363" y="5337810"/>
            <a:ext cx="8853488" cy="781050"/>
          </a:xfrm>
          <a:prstGeom prst="roundRect">
            <a:avLst>
              <a:gd name="adj" fmla="val 9756"/>
            </a:avLst>
          </a:prstGeom>
          <a:solidFill>
            <a:srgbClr val="263545"/>
          </a:solidFill>
          <a:ln w="9525">
            <a:solidFill>
              <a:srgbClr val="263545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877300" y="5524500"/>
            <a:ext cx="83248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公司化管理机制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615363" y="6252210"/>
            <a:ext cx="8853488" cy="781050"/>
          </a:xfrm>
          <a:prstGeom prst="roundRect">
            <a:avLst>
              <a:gd name="adj" fmla="val 9756"/>
            </a:avLst>
          </a:prstGeom>
          <a:solidFill>
            <a:srgbClr val="405166"/>
          </a:solidFill>
          <a:ln w="9525">
            <a:solidFill>
              <a:srgbClr val="40516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877300" y="6438900"/>
            <a:ext cx="83248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批量案件与系统化处理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615363" y="7166610"/>
            <a:ext cx="8853488" cy="781050"/>
          </a:xfrm>
          <a:prstGeom prst="roundRect">
            <a:avLst>
              <a:gd name="adj" fmla="val 9756"/>
            </a:avLst>
          </a:prstGeom>
          <a:solidFill>
            <a:srgbClr val="D6C49B"/>
          </a:solidFill>
          <a:ln w="9525">
            <a:solidFill>
              <a:srgbClr val="D6C49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877300" y="7353300"/>
            <a:ext cx="83248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互联网与平台场景经验</a:t>
            </a:r>
            <a:endParaRPr sz="2025" b="1">
              <a:solidFill>
                <a:srgbClr val="111827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615363" y="8081010"/>
            <a:ext cx="8853488" cy="781050"/>
          </a:xfrm>
          <a:prstGeom prst="roundRect">
            <a:avLst>
              <a:gd name="adj" fmla="val 9756"/>
            </a:avLst>
          </a:prstGeom>
          <a:solidFill>
            <a:srgbClr val="E8DDC4"/>
          </a:solidFill>
          <a:ln w="9525">
            <a:solidFill>
              <a:srgbClr val="E8DD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877300" y="8267700"/>
            <a:ext cx="83248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争端解决能力</a:t>
            </a:r>
            <a:endParaRPr sz="2025" b="1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9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95350" y="685800"/>
            <a:ext cx="2114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06 / STRATEGIC ANCHOR</a:t>
            </a:r>
            <a:endParaRPr sz="1350" b="1">
              <a:solidFill>
                <a:srgbClr val="C6A6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6516350" y="685800"/>
            <a:ext cx="8763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一句话定位</a:t>
            </a:r>
            <a:endParaRPr sz="1350" b="1">
              <a:solidFill>
                <a:srgbClr val="C6A6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95350" y="2895600"/>
            <a:ext cx="11830050" cy="1752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我们处理的，不只是案件，</a:t>
            </a:r>
            <a:endParaRPr sz="5700" b="1">
              <a:solidFill>
                <a:srgbClr val="FFFFFF"/>
              </a:solidFill>
            </a:endParaRPr>
          </a:p>
          <a:p>
            <a:pPr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而是这个时代不断出现的新型问题。</a:t>
            </a:r>
            <a:endParaRPr sz="570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4914900"/>
            <a:ext cx="754380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C6A661"/>
                </a:solidFill>
              </a:defRPr>
            </a:pPr>
            <a:r>
              <a:rPr sz="2325" b="1">
                <a:solidFill>
                  <a:srgbClr val="C6A661"/>
                </a:solidFill>
              </a:rPr>
              <a:t>这不是广告语，而是网站、内容、招聘的统一战略锚点。</a:t>
            </a:r>
            <a:endParaRPr sz="2325" b="1">
              <a:solidFill>
                <a:srgbClr val="C6A6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95350" y="7410450"/>
            <a:ext cx="5346700" cy="2190750"/>
          </a:xfrm>
          <a:prstGeom prst="roundRect">
            <a:avLst>
              <a:gd name="adj" fmla="val 3478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1181100" y="76962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8629650"/>
            <a:ext cx="4819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网站锚点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62050" y="9086850"/>
            <a:ext cx="3810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9D0D8"/>
                </a:solidFill>
              </a:defRPr>
            </a:pPr>
            <a:r>
              <a:rPr sz="1650">
                <a:solidFill>
                  <a:srgbClr val="C9D0D8"/>
                </a:solidFill>
              </a:rPr>
              <a:t>所有页面围绕“新型问题解决能力”展开。</a:t>
            </a:r>
            <a:endParaRPr sz="1650">
              <a:solidFill>
                <a:srgbClr val="C9D0D8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470650" y="7410450"/>
            <a:ext cx="5346700" cy="2190750"/>
          </a:xfrm>
          <a:prstGeom prst="roundRect">
            <a:avLst>
              <a:gd name="adj" fmla="val 3478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6743700" y="76962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743700" y="8629650"/>
            <a:ext cx="4819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内容锚点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43700" y="9086850"/>
            <a:ext cx="3848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9D0D8"/>
                </a:solidFill>
              </a:defRPr>
            </a:pPr>
            <a:r>
              <a:rPr sz="1650">
                <a:solidFill>
                  <a:srgbClr val="C9D0D8"/>
                </a:solidFill>
              </a:rPr>
              <a:t>文章、播客、视频聚焦新型争议与风险。</a:t>
            </a:r>
            <a:endParaRPr sz="1650">
              <a:solidFill>
                <a:srgbClr val="C9D0D8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2045950" y="7410450"/>
            <a:ext cx="5346700" cy="2190750"/>
          </a:xfrm>
          <a:prstGeom prst="roundRect">
            <a:avLst>
              <a:gd name="adj" fmla="val 3478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12306300" y="76962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306300" y="8382000"/>
            <a:ext cx="48196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招聘锚点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306300" y="8839200"/>
            <a:ext cx="4705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9D0D8"/>
                </a:solidFill>
              </a:defRPr>
            </a:pPr>
            <a:r>
              <a:rPr sz="1650">
                <a:solidFill>
                  <a:srgbClr val="C9D0D8"/>
                </a:solidFill>
              </a:rPr>
              <a:t>吸引愿意处理复杂问题、理解业务、具备表达能力的律师。</a:t>
            </a:r>
            <a:endParaRPr sz="1650">
              <a:solidFill>
                <a:srgbClr val="C9D0D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6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6192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07 / ROLE UPGRADE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66675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276350"/>
            <a:ext cx="314325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网站角色升级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647950"/>
            <a:ext cx="48006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网站要从展示工具，升级为业务基础设施。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3569970"/>
            <a:ext cx="7252335" cy="6145530"/>
          </a:xfrm>
          <a:prstGeom prst="roundRect">
            <a:avLst>
              <a:gd name="adj" fmla="val 124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43000" y="3886200"/>
            <a:ext cx="66103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网站不应只是</a:t>
            </a:r>
            <a:endParaRPr sz="2475" b="1">
              <a:solidFill>
                <a:srgbClr val="111827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143000" y="4610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52550" y="4495800"/>
            <a:ext cx="64008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66707D"/>
                </a:solidFill>
              </a:defRPr>
            </a:pPr>
            <a:r>
              <a:rPr sz="2025" b="1">
                <a:solidFill>
                  <a:srgbClr val="66707D"/>
                </a:solidFill>
              </a:rPr>
              <a:t>宣传册</a:t>
            </a:r>
            <a:endParaRPr sz="2025" b="1">
              <a:solidFill>
                <a:srgbClr val="66707D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143000" y="5105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52550" y="4991100"/>
            <a:ext cx="64008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66707D"/>
                </a:solidFill>
              </a:defRPr>
            </a:pPr>
            <a:r>
              <a:rPr sz="2025" b="1">
                <a:solidFill>
                  <a:srgbClr val="66707D"/>
                </a:solidFill>
              </a:rPr>
              <a:t>名片页</a:t>
            </a:r>
            <a:endParaRPr sz="2025" b="1">
              <a:solidFill>
                <a:srgbClr val="66707D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143000" y="5581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52550" y="5467350"/>
            <a:ext cx="64008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66707D"/>
                </a:solidFill>
              </a:defRPr>
            </a:pPr>
            <a:r>
              <a:rPr sz="2025" b="1">
                <a:solidFill>
                  <a:srgbClr val="66707D"/>
                </a:solidFill>
              </a:rPr>
              <a:t>律师目录</a:t>
            </a:r>
            <a:endParaRPr sz="2025" b="1">
              <a:solidFill>
                <a:srgbClr val="66707D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143000" y="60579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52550" y="5943600"/>
            <a:ext cx="64008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66707D"/>
                </a:solidFill>
              </a:defRPr>
            </a:pPr>
            <a:r>
              <a:rPr sz="2025" b="1">
                <a:solidFill>
                  <a:srgbClr val="66707D"/>
                </a:solidFill>
              </a:rPr>
              <a:t>联系方式集合</a:t>
            </a:r>
            <a:endParaRPr sz="2025" b="1">
              <a:solidFill>
                <a:srgbClr val="66707D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604885" y="3569970"/>
            <a:ext cx="4317683" cy="2958465"/>
          </a:xfrm>
          <a:prstGeom prst="roundRect">
            <a:avLst>
              <a:gd name="adj" fmla="val 2576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8877300" y="38481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877300" y="5562600"/>
            <a:ext cx="3790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信任系统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77300" y="6019800"/>
            <a:ext cx="2133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让客户快速相信纬理。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13151168" y="3569970"/>
            <a:ext cx="4317683" cy="2958465"/>
          </a:xfrm>
          <a:prstGeom prst="roundRect">
            <a:avLst>
              <a:gd name="adj" fmla="val 2576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13411200" y="38481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3411200" y="5295900"/>
            <a:ext cx="3790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转化系统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3411200" y="5753100"/>
            <a:ext cx="27813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让客户知道下一步怎么联系。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604885" y="6757035"/>
            <a:ext cx="4317683" cy="2958465"/>
          </a:xfrm>
          <a:prstGeom prst="roundRect">
            <a:avLst>
              <a:gd name="adj" fmla="val 2576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8877300" y="70104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877300" y="8743950"/>
            <a:ext cx="3790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内容系统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877300" y="9201150"/>
            <a:ext cx="2133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让专业能力持续沉淀。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3151168" y="6757035"/>
            <a:ext cx="4317683" cy="2958465"/>
          </a:xfrm>
          <a:prstGeom prst="roundRect">
            <a:avLst>
              <a:gd name="adj" fmla="val 2576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13411200" y="70104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3411200" y="8743950"/>
            <a:ext cx="3790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人才系统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3411200" y="9201150"/>
            <a:ext cx="2571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让优秀律师看到平台价值。</a:t>
            </a:r>
            <a:endParaRPr sz="1650">
              <a:solidFill>
                <a:srgbClr val="66707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6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9812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08 / CONVERSION LOGIC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57150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085850"/>
            <a:ext cx="78676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核心转化逻辑：分流、证明、行动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847850"/>
            <a:ext cx="35433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好的网站，是在减少客户犹豫。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4343400"/>
            <a:ext cx="3733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09650" y="4514850"/>
            <a:ext cx="3352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进入网站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667250" y="46101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124450" y="4343400"/>
            <a:ext cx="3733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314950" y="4514850"/>
            <a:ext cx="3352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分流：这里有我的问题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972550" y="46101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429750" y="4343400"/>
            <a:ext cx="3733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620250" y="4514850"/>
            <a:ext cx="3352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证明：纬理有能力处理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277850" y="46101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3735050" y="4343400"/>
            <a:ext cx="37338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925550" y="4514850"/>
            <a:ext cx="3352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行动：安全地开始咨询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19150" y="5646420"/>
            <a:ext cx="4005263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1104900" y="59055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085850" y="6263005"/>
            <a:ext cx="3467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用场景替代抽象名称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85850" y="6896735"/>
            <a:ext cx="3733165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客户先按问题识别自己，而不是理解律所内部分类。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5033963" y="5646420"/>
            <a:ext cx="4005263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5295900" y="59055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295900" y="6263005"/>
            <a:ext cx="3467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用机制替代空泛承诺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95900" y="6896735"/>
            <a:ext cx="340106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响应时限、保密、利冲、团队机制降低顾虑。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9248775" y="5646420"/>
            <a:ext cx="4005263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9525000" y="59055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525000" y="6263005"/>
            <a:ext cx="3467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用履历替代机构口号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525000" y="6896735"/>
            <a:ext cx="3405505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主任与核心律师经验是最直接的可信证据。</a:t>
            </a:r>
            <a:endParaRPr sz="1650">
              <a:solidFill>
                <a:srgbClr val="66707D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3463588" y="5646420"/>
            <a:ext cx="4005263" cy="24765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1" name="圆角矩形 30"/>
          <p:cNvSpPr>
            <a:spLocks noGrp="1"/>
          </p:cNvSpPr>
          <p:nvPr/>
        </p:nvSpPr>
        <p:spPr>
          <a:xfrm>
            <a:off x="13716000" y="59055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3735050" y="6263005"/>
            <a:ext cx="3467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用流程替代联系我们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3735050" y="6896735"/>
            <a:ext cx="3277235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6707D"/>
                </a:solidFill>
              </a:defRPr>
            </a:pPr>
            <a:r>
              <a:rPr sz="1650">
                <a:solidFill>
                  <a:srgbClr val="66707D"/>
                </a:solidFill>
              </a:rPr>
              <a:t>让客户知道如何开始、会发生什么、谁来响应。</a:t>
            </a:r>
            <a:endParaRPr sz="1650">
              <a:solidFill>
                <a:srgbClr val="66707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6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0287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09 / HOME IA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66675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276350"/>
            <a:ext cx="314325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首页信息架构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647950"/>
            <a:ext cx="35433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首页的目标，是让客户做决定。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3569970"/>
            <a:ext cx="8501063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384810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1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66850" y="3733800"/>
            <a:ext cx="6858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Hero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66850" y="4019550"/>
            <a:ext cx="685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6707D"/>
                </a:solidFill>
              </a:defRPr>
            </a:pPr>
            <a:r>
              <a:rPr sz="1275">
                <a:solidFill>
                  <a:srgbClr val="66707D"/>
                </a:solidFill>
              </a:rPr>
              <a:t>品牌主张 + CTA</a:t>
            </a:r>
            <a:endParaRPr sz="1275">
              <a:solidFill>
                <a:srgbClr val="66707D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475250" y="3790950"/>
            <a:ext cx="673513" cy="381000"/>
          </a:xfrm>
          <a:prstGeom prst="roundRect">
            <a:avLst>
              <a:gd name="adj" fmla="val 50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648700" y="388620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吸引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19150" y="4503420"/>
            <a:ext cx="8501063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90600" y="478155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2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66850" y="4667250"/>
            <a:ext cx="6858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客户分流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66850" y="4953000"/>
            <a:ext cx="685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6707D"/>
                </a:solidFill>
              </a:defRPr>
            </a:pPr>
            <a:r>
              <a:rPr sz="1275">
                <a:solidFill>
                  <a:srgbClr val="66707D"/>
                </a:solidFill>
              </a:rPr>
              <a:t>企业 / 中小客户 / 高净值客户</a:t>
            </a:r>
            <a:endParaRPr sz="1275">
              <a:solidFill>
                <a:srgbClr val="66707D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475250" y="4724400"/>
            <a:ext cx="673513" cy="381000"/>
          </a:xfrm>
          <a:prstGeom prst="roundRect">
            <a:avLst>
              <a:gd name="adj" fmla="val 50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481965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分流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19150" y="5436870"/>
            <a:ext cx="8501063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90600" y="571500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3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466850" y="5600700"/>
            <a:ext cx="6858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信任机制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66850" y="5886450"/>
            <a:ext cx="685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6707D"/>
                </a:solidFill>
              </a:defRPr>
            </a:pPr>
            <a:r>
              <a:rPr sz="1275">
                <a:solidFill>
                  <a:srgbClr val="66707D"/>
                </a:solidFill>
              </a:rPr>
              <a:t>响应、保密、利冲、团队机制</a:t>
            </a:r>
            <a:endParaRPr sz="1275">
              <a:solidFill>
                <a:srgbClr val="66707D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475250" y="5657850"/>
            <a:ext cx="673513" cy="381000"/>
          </a:xfrm>
          <a:prstGeom prst="roundRect">
            <a:avLst>
              <a:gd name="adj" fmla="val 50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648700" y="575310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证明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19150" y="6370320"/>
            <a:ext cx="8501063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90600" y="664845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4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66850" y="6534150"/>
            <a:ext cx="6858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专业领域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466850" y="6819900"/>
            <a:ext cx="685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6707D"/>
                </a:solidFill>
              </a:defRPr>
            </a:pPr>
            <a:r>
              <a:rPr sz="1275">
                <a:solidFill>
                  <a:srgbClr val="66707D"/>
                </a:solidFill>
              </a:rPr>
              <a:t>争议解决、互联网、知产、批量案件</a:t>
            </a:r>
            <a:endParaRPr sz="1275">
              <a:solidFill>
                <a:srgbClr val="66707D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475250" y="6591300"/>
            <a:ext cx="673513" cy="381000"/>
          </a:xfrm>
          <a:prstGeom prst="roundRect">
            <a:avLst>
              <a:gd name="adj" fmla="val 50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648700" y="668655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证明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19150" y="7303770"/>
            <a:ext cx="8501063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90600" y="758190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5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466850" y="7467600"/>
            <a:ext cx="6858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服务场景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466850" y="7753350"/>
            <a:ext cx="6858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6707D"/>
                </a:solidFill>
              </a:defRPr>
            </a:pPr>
            <a:r>
              <a:rPr sz="1275">
                <a:solidFill>
                  <a:srgbClr val="66707D"/>
                </a:solidFill>
              </a:rPr>
              <a:t>平台业务、网络侵权、经济犯罪、合规风险</a:t>
            </a:r>
            <a:endParaRPr sz="1275">
              <a:solidFill>
                <a:srgbClr val="66707D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475250" y="7524750"/>
            <a:ext cx="673513" cy="381000"/>
          </a:xfrm>
          <a:prstGeom prst="roundRect">
            <a:avLst>
              <a:gd name="adj" fmla="val 50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648700" y="762000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匹配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9777413" y="3569970"/>
            <a:ext cx="7691438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944100" y="384810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6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0420350" y="3733800"/>
            <a:ext cx="6038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案例 / 内容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0420350" y="4019550"/>
            <a:ext cx="6038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6707D"/>
                </a:solidFill>
              </a:defRPr>
            </a:pPr>
            <a:r>
              <a:rPr sz="1275">
                <a:solidFill>
                  <a:srgbClr val="66707D"/>
                </a:solidFill>
              </a:rPr>
              <a:t>案例、文章、播客、实务观察</a:t>
            </a:r>
            <a:endParaRPr sz="1275">
              <a:solidFill>
                <a:srgbClr val="66707D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16623887" y="3790950"/>
            <a:ext cx="673513" cy="381000"/>
          </a:xfrm>
          <a:prstGeom prst="roundRect">
            <a:avLst>
              <a:gd name="adj" fmla="val 50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6802100" y="388620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沉淀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9777413" y="4503420"/>
            <a:ext cx="7691438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9944100" y="478155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7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0420350" y="4667250"/>
            <a:ext cx="6038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团队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420350" y="4953000"/>
            <a:ext cx="6038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6707D"/>
                </a:solidFill>
              </a:defRPr>
            </a:pPr>
            <a:r>
              <a:rPr sz="1275">
                <a:solidFill>
                  <a:srgbClr val="66707D"/>
                </a:solidFill>
              </a:rPr>
              <a:t>主任、合伙人、主办律师</a:t>
            </a:r>
            <a:endParaRPr sz="1275">
              <a:solidFill>
                <a:srgbClr val="66707D"/>
              </a:solidFill>
            </a:endParaRP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16623887" y="4724400"/>
            <a:ext cx="673513" cy="381000"/>
          </a:xfrm>
          <a:prstGeom prst="roundRect">
            <a:avLst>
              <a:gd name="adj" fmla="val 50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16802100" y="481965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证明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9777413" y="5436870"/>
            <a:ext cx="7691438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944100" y="571500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8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420350" y="5600700"/>
            <a:ext cx="6038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律师发展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0420350" y="5886450"/>
            <a:ext cx="6038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6707D"/>
                </a:solidFill>
              </a:defRPr>
            </a:pPr>
            <a:r>
              <a:rPr sz="1275">
                <a:solidFill>
                  <a:srgbClr val="66707D"/>
                </a:solidFill>
              </a:rPr>
              <a:t>成长机制、内容机会</a:t>
            </a:r>
            <a:endParaRPr sz="1275">
              <a:solidFill>
                <a:srgbClr val="66707D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16623887" y="5657850"/>
            <a:ext cx="673513" cy="381000"/>
          </a:xfrm>
          <a:prstGeom prst="roundRect">
            <a:avLst>
              <a:gd name="adj" fmla="val 50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6802100" y="575310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人才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9777413" y="6370320"/>
            <a:ext cx="7691438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944100" y="6648450"/>
            <a:ext cx="323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6A661"/>
                </a:solidFill>
              </a:defRPr>
            </a:pPr>
            <a:r>
              <a:rPr sz="1650" b="1">
                <a:solidFill>
                  <a:srgbClr val="C6A661"/>
                </a:solidFill>
              </a:rPr>
              <a:t>9</a:t>
            </a:r>
            <a:endParaRPr sz="1650" b="1">
              <a:solidFill>
                <a:srgbClr val="C6A661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10420350" y="6534150"/>
            <a:ext cx="6038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咨询流程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10420350" y="6819900"/>
            <a:ext cx="6038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66707D"/>
                </a:solidFill>
              </a:defRPr>
            </a:pPr>
            <a:r>
              <a:rPr sz="1275">
                <a:solidFill>
                  <a:srgbClr val="66707D"/>
                </a:solidFill>
              </a:rPr>
              <a:t>提交问题、初步判断、确认方案、委托</a:t>
            </a:r>
            <a:endParaRPr sz="1275">
              <a:solidFill>
                <a:srgbClr val="66707D"/>
              </a:solidFill>
            </a:endParaRP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16623887" y="6591300"/>
            <a:ext cx="673513" cy="381000"/>
          </a:xfrm>
          <a:prstGeom prst="roundRect">
            <a:avLst>
              <a:gd name="adj" fmla="val 50000"/>
            </a:avLst>
          </a:prstGeom>
          <a:solidFill>
            <a:srgbClr val="F4EAD4"/>
          </a:solidFill>
          <a:ln w="9525">
            <a:solidFill>
              <a:srgbClr val="F4EAD4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16802100" y="668655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转化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9777413" y="7303770"/>
            <a:ext cx="7691438" cy="2411730"/>
          </a:xfrm>
          <a:prstGeom prst="roundRect">
            <a:avLst>
              <a:gd name="adj" fmla="val 3160"/>
            </a:avLst>
          </a:prstGeom>
          <a:solidFill>
            <a:srgbClr val="0B1119"/>
          </a:solidFill>
          <a:ln w="9525">
            <a:solidFill>
              <a:srgbClr val="0B1119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10001250" y="7562850"/>
            <a:ext cx="723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客户价值</a:t>
            </a:r>
            <a:endParaRPr sz="2025" b="1">
              <a:solidFill>
                <a:srgbClr val="FFFFFF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0001250" y="7962900"/>
            <a:ext cx="1924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9D0D8"/>
                </a:solidFill>
              </a:defRPr>
            </a:pPr>
            <a:r>
              <a:rPr sz="1650">
                <a:solidFill>
                  <a:srgbClr val="C9D0D8"/>
                </a:solidFill>
              </a:rPr>
              <a:t>更快判断是否匹配。</a:t>
            </a:r>
            <a:endParaRPr sz="1650">
              <a:solidFill>
                <a:srgbClr val="C9D0D8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10001250" y="8553450"/>
            <a:ext cx="72390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C6A661"/>
                </a:solidFill>
              </a:defRPr>
            </a:pPr>
            <a:r>
              <a:rPr sz="2025" b="1">
                <a:solidFill>
                  <a:srgbClr val="C6A661"/>
                </a:solidFill>
              </a:rPr>
              <a:t>律所收益</a:t>
            </a:r>
            <a:endParaRPr sz="2025" b="1">
              <a:solidFill>
                <a:srgbClr val="C6A661"/>
              </a:solidFill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10001250" y="8953500"/>
            <a:ext cx="29908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9D0D8"/>
                </a:solidFill>
              </a:defRPr>
            </a:pPr>
            <a:r>
              <a:rPr sz="1650">
                <a:solidFill>
                  <a:srgbClr val="C9D0D8"/>
                </a:solidFill>
              </a:rPr>
              <a:t>更高质量咨询，更少无效沟通。</a:t>
            </a:r>
            <a:endParaRPr sz="1650">
              <a:solidFill>
                <a:srgbClr val="C9D0D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6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485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10 / CLIENT PATHS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57150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085850"/>
            <a:ext cx="314325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三类客户路径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457450"/>
            <a:ext cx="480060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同一个网站，不应让所有客户走同一条路。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19150" y="3375660"/>
            <a:ext cx="16649700" cy="1973580"/>
          </a:xfrm>
          <a:prstGeom prst="roundRect">
            <a:avLst>
              <a:gd name="adj" fmla="val 386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047750" y="419100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企业客户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276600" y="3924300"/>
            <a:ext cx="1885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467100" y="409575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专业能力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276850" y="417195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734050" y="3924300"/>
            <a:ext cx="1885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924550" y="409575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服务机制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734300" y="417195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191500" y="3924300"/>
            <a:ext cx="1885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82000" y="409575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代表经验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191750" y="417195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0648950" y="3924300"/>
            <a:ext cx="1885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839450" y="409575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预约咨询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763500" y="4114800"/>
            <a:ext cx="42862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6707D"/>
                </a:solidFill>
              </a:defRPr>
            </a:pPr>
            <a:r>
              <a:rPr sz="1575">
                <a:solidFill>
                  <a:srgbClr val="66707D"/>
                </a:solidFill>
              </a:rPr>
              <a:t>减少犹豫：是否专业、是否高效、是否懂业务。</a:t>
            </a:r>
            <a:endParaRPr sz="1575">
              <a:solidFill>
                <a:srgbClr val="66707D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19150" y="5558790"/>
            <a:ext cx="16649700" cy="1973580"/>
          </a:xfrm>
          <a:prstGeom prst="roundRect">
            <a:avLst>
              <a:gd name="adj" fmla="val 386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47750" y="638175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中小客户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3276600" y="6115050"/>
            <a:ext cx="27051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467100" y="6286500"/>
            <a:ext cx="2324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内容解释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0" y="63627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553200" y="6115050"/>
            <a:ext cx="27051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743700" y="6286500"/>
            <a:ext cx="2324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案例观察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372600" y="63627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829800" y="6115050"/>
            <a:ext cx="27051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020300" y="6286500"/>
            <a:ext cx="2324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初步咨询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2763500" y="6305550"/>
            <a:ext cx="42862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6707D"/>
                </a:solidFill>
              </a:defRPr>
            </a:pPr>
            <a:r>
              <a:rPr sz="1575">
                <a:solidFill>
                  <a:srgbClr val="66707D"/>
                </a:solidFill>
              </a:rPr>
              <a:t>减少犹豫：听不听得懂、是否值得问、会不会有压力。</a:t>
            </a:r>
            <a:endParaRPr sz="1575">
              <a:solidFill>
                <a:srgbClr val="66707D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19150" y="7741920"/>
            <a:ext cx="16649700" cy="1973580"/>
          </a:xfrm>
          <a:prstGeom prst="roundRect">
            <a:avLst>
              <a:gd name="adj" fmla="val 386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47750" y="8553450"/>
            <a:ext cx="20002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高净值客户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3276600" y="8286750"/>
            <a:ext cx="1885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467100" y="845820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精品服务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276850" y="85344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5734050" y="8286750"/>
            <a:ext cx="1885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924550" y="845820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核心律师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734300" y="85344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8191500" y="8286750"/>
            <a:ext cx="1885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8382000" y="845820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保密机制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0191750" y="85344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10648950" y="8286750"/>
            <a:ext cx="1885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0839450" y="8458200"/>
            <a:ext cx="1504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私密沟通</a:t>
            </a:r>
            <a:endParaRPr sz="1650" b="1">
              <a:solidFill>
                <a:srgbClr val="111827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2763500" y="8477250"/>
            <a:ext cx="42862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66707D"/>
                </a:solidFill>
              </a:defRPr>
            </a:pPr>
            <a:r>
              <a:rPr sz="1575">
                <a:solidFill>
                  <a:srgbClr val="66707D"/>
                </a:solidFill>
              </a:rPr>
              <a:t>减少犹豫：是否私密、是否稳妥、是否由资深律师负责。</a:t>
            </a:r>
            <a:endParaRPr sz="1575">
              <a:solidFill>
                <a:srgbClr val="66707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9"/>
          </a:solidFill>
        </p:spPr>
        <p:txBody>
          <a:bodyPr/>
          <a:p>
            <a:r>
              <a:rPr b="1">
                <a:solidFill>
                  <a:srgbClr val="C6A661"/>
                </a:solidFill>
                <a:sym typeface="+mn-ea"/>
              </a:rPr>
              <a:t>网站不是形象工程，而是信任前置的基础设施</a:t>
            </a:r>
            <a:endParaRPr lang="zh-CN" altLang="en-US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390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C6A661"/>
                </a:solidFill>
              </a:defRPr>
            </a:pPr>
            <a:r>
              <a:rPr sz="1275" b="1">
                <a:solidFill>
                  <a:srgbClr val="C6A661"/>
                </a:solidFill>
              </a:rPr>
              <a:t>11 / DIRECTION A</a:t>
            </a:r>
            <a:endParaRPr sz="1275" b="1">
              <a:solidFill>
                <a:srgbClr val="C6A6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57150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9D0D8"/>
                </a:solidFill>
              </a:defRPr>
            </a:pPr>
            <a:r>
              <a:rPr sz="1200">
                <a:solidFill>
                  <a:srgbClr val="C9D0D8"/>
                </a:solidFill>
              </a:rPr>
              <a:t>北京纬理律师事务所｜网站设计与品牌升级方案</a:t>
            </a:r>
            <a:endParaRPr sz="1200">
              <a:solidFill>
                <a:srgbClr val="C9D0D8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085850"/>
            <a:ext cx="68008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 高端商务型：主站首选方向</a:t>
            </a:r>
            <a:endParaRPr sz="40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847850"/>
            <a:ext cx="3028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先建立权威，再承接转化。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2529840"/>
            <a:ext cx="7258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</a:rPr>
              <a:t>关键词</a:t>
            </a:r>
            <a:endParaRPr sz="4000" b="1">
              <a:solidFill>
                <a:srgbClr val="FFFFFF"/>
              </a:solidFill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350770" y="4692650"/>
            <a:ext cx="1752600" cy="796290"/>
            <a:chOff x="1290" y="5118"/>
            <a:chExt cx="2760" cy="1254"/>
          </a:xfrm>
        </p:grpSpPr>
        <p:sp>
          <p:nvSpPr>
            <p:cNvPr id="8" name="圆角矩形 7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6275"/>
              </a:srgbClr>
            </a:solidFill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9" name="矩形 8"/>
            <p:cNvSpPr>
              <a:spLocks noGrp="1"/>
            </p:cNvSpPr>
            <p:nvPr/>
          </p:nvSpPr>
          <p:spPr>
            <a:xfrm>
              <a:off x="1471" y="5347"/>
              <a:ext cx="2455" cy="821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lang="zh-CN" sz="2800" b="1">
                  <a:solidFill>
                    <a:srgbClr val="FFFFFF"/>
                  </a:solidFill>
                </a:rPr>
                <a:t>复杂</a:t>
              </a:r>
              <a:r>
                <a:rPr lang="zh-CN" sz="2800" b="1">
                  <a:solidFill>
                    <a:srgbClr val="FFFFFF"/>
                  </a:solidFill>
                </a:rPr>
                <a:t>争议</a:t>
              </a:r>
              <a:endParaRPr lang="zh-CN" sz="2800" b="1">
                <a:solidFill>
                  <a:srgbClr val="FFFFFF"/>
                </a:solidFill>
              </a:endParaRPr>
            </a:p>
          </p:txBody>
        </p:sp>
      </p:grpSp>
      <p:sp>
        <p:nvSpPr>
          <p:cNvPr id="18" name="矩形 17"/>
          <p:cNvSpPr>
            <a:spLocks noGrp="1"/>
          </p:cNvSpPr>
          <p:nvPr/>
        </p:nvSpPr>
        <p:spPr>
          <a:xfrm>
            <a:off x="819150" y="5924550"/>
            <a:ext cx="725805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6172200"/>
            <a:ext cx="7258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适用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6743700"/>
            <a:ext cx="51625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C9D0D8"/>
                </a:solidFill>
              </a:defRPr>
            </a:pPr>
            <a:r>
              <a:rPr sz="1875">
                <a:solidFill>
                  <a:srgbClr val="C9D0D8"/>
                </a:solidFill>
              </a:rPr>
              <a:t>企业客户 / 平台业务 / 批量案件 / 知识产权争议 / 复杂商事争议</a:t>
            </a:r>
            <a:endParaRPr sz="1875">
              <a:solidFill>
                <a:srgbClr val="C9D0D8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7543800"/>
            <a:ext cx="7258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C6A661"/>
                </a:solidFill>
              </a:defRPr>
            </a:pPr>
            <a:r>
              <a:rPr sz="2250" b="1">
                <a:solidFill>
                  <a:srgbClr val="C6A661"/>
                </a:solidFill>
              </a:rPr>
              <a:t>判断</a:t>
            </a:r>
            <a:endParaRPr sz="2250" b="1">
              <a:solidFill>
                <a:srgbClr val="C6A66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8115300"/>
            <a:ext cx="6076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C9D0D8"/>
                </a:solidFill>
              </a:defRPr>
            </a:pPr>
            <a:r>
              <a:rPr sz="1875">
                <a:solidFill>
                  <a:srgbClr val="C9D0D8"/>
                </a:solidFill>
              </a:rPr>
              <a:t>最适合作为第一阶段主站方向，能最快建立机构可信度。</a:t>
            </a:r>
            <a:endParaRPr sz="1875">
              <a:solidFill>
                <a:srgbClr val="C9D0D8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594408" y="2461260"/>
            <a:ext cx="8874443" cy="7254240"/>
          </a:xfrm>
          <a:prstGeom prst="roundRect">
            <a:avLst>
              <a:gd name="adj" fmla="val 1050"/>
            </a:avLst>
          </a:prstGeom>
          <a:solidFill>
            <a:srgbClr val="FFFFFF">
              <a:alpha val="5490"/>
            </a:srgbClr>
          </a:solidFill>
          <a:ln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858250" y="285750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首页线框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6544354" y="2724150"/>
            <a:ext cx="657796" cy="5715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6706850" y="2819400"/>
            <a:ext cx="323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CTA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839200" y="3429000"/>
            <a:ext cx="8305800" cy="1104900"/>
          </a:xfrm>
          <a:prstGeom prst="roundRect">
            <a:avLst>
              <a:gd name="adj" fmla="val 6897"/>
            </a:avLst>
          </a:prstGeom>
          <a:solidFill>
            <a:srgbClr val="FFFFFF">
              <a:alpha val="7059"/>
            </a:srgbClr>
          </a:solidFill>
          <a:ln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8861108" y="4735830"/>
            <a:ext cx="4103846" cy="1794510"/>
          </a:xfrm>
          <a:prstGeom prst="roundRect">
            <a:avLst>
              <a:gd name="adj" fmla="val 4246"/>
            </a:avLst>
          </a:prstGeom>
          <a:solidFill>
            <a:srgbClr val="FFFFFF">
              <a:alpha val="4314"/>
            </a:srgbClr>
          </a:solidFill>
          <a:ln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029700" y="491490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9D0D8"/>
                </a:solidFill>
              </a:defRPr>
            </a:pPr>
            <a:r>
              <a:rPr sz="1650" b="1">
                <a:solidFill>
                  <a:srgbClr val="C9D0D8"/>
                </a:solidFill>
              </a:rPr>
              <a:t>信任机制</a:t>
            </a:r>
            <a:endParaRPr sz="1650" b="1">
              <a:solidFill>
                <a:srgbClr val="C9D0D8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3098304" y="4735830"/>
            <a:ext cx="4103846" cy="1794510"/>
          </a:xfrm>
          <a:prstGeom prst="roundRect">
            <a:avLst>
              <a:gd name="adj" fmla="val 4246"/>
            </a:avLst>
          </a:prstGeom>
          <a:solidFill>
            <a:srgbClr val="FFFFFF">
              <a:alpha val="4314"/>
            </a:srgbClr>
          </a:solidFill>
          <a:ln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3277850" y="491490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9D0D8"/>
                </a:solidFill>
              </a:defRPr>
            </a:pPr>
            <a:r>
              <a:rPr sz="1650" b="1">
                <a:solidFill>
                  <a:srgbClr val="C9D0D8"/>
                </a:solidFill>
              </a:rPr>
              <a:t>专业领域</a:t>
            </a:r>
            <a:endParaRPr sz="1650" b="1">
              <a:solidFill>
                <a:srgbClr val="C9D0D8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861108" y="6663690"/>
            <a:ext cx="4103846" cy="1794510"/>
          </a:xfrm>
          <a:prstGeom prst="roundRect">
            <a:avLst>
              <a:gd name="adj" fmla="val 4246"/>
            </a:avLst>
          </a:prstGeom>
          <a:solidFill>
            <a:srgbClr val="FFFFFF">
              <a:alpha val="4314"/>
            </a:srgbClr>
          </a:solidFill>
          <a:ln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029700" y="683895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9D0D8"/>
                </a:solidFill>
              </a:defRPr>
            </a:pPr>
            <a:r>
              <a:rPr sz="1650" b="1">
                <a:solidFill>
                  <a:srgbClr val="C9D0D8"/>
                </a:solidFill>
              </a:rPr>
              <a:t>团队入口</a:t>
            </a:r>
            <a:endParaRPr sz="1650" b="1">
              <a:solidFill>
                <a:srgbClr val="C9D0D8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13098304" y="6663690"/>
            <a:ext cx="4103846" cy="1794510"/>
          </a:xfrm>
          <a:prstGeom prst="roundRect">
            <a:avLst>
              <a:gd name="adj" fmla="val 4246"/>
            </a:avLst>
          </a:prstGeom>
          <a:solidFill>
            <a:srgbClr val="FFFFFF">
              <a:alpha val="4314"/>
            </a:srgbClr>
          </a:solidFill>
          <a:ln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3277850" y="683895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C9D0D8"/>
                </a:solidFill>
              </a:defRPr>
            </a:pPr>
            <a:r>
              <a:rPr sz="1650" b="1">
                <a:solidFill>
                  <a:srgbClr val="C9D0D8"/>
                </a:solidFill>
              </a:rPr>
              <a:t>案例 / 内容</a:t>
            </a:r>
            <a:endParaRPr sz="1650" b="1">
              <a:solidFill>
                <a:srgbClr val="C9D0D8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839200" y="8610600"/>
            <a:ext cx="8305800" cy="819150"/>
          </a:xfrm>
          <a:prstGeom prst="roundRect">
            <a:avLst>
              <a:gd name="adj" fmla="val 9302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grpSp>
        <p:nvGrpSpPr>
          <p:cNvPr id="38" name="组合 37"/>
          <p:cNvGrpSpPr/>
          <p:nvPr/>
        </p:nvGrpSpPr>
        <p:grpSpPr>
          <a:xfrm>
            <a:off x="946150" y="3376930"/>
            <a:ext cx="1752600" cy="796290"/>
            <a:chOff x="1290" y="5118"/>
            <a:chExt cx="2760" cy="1254"/>
          </a:xfrm>
        </p:grpSpPr>
        <p:sp>
          <p:nvSpPr>
            <p:cNvPr id="39" name="圆角矩形 38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6275"/>
              </a:srgbClr>
            </a:solidFill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40" name="矩形 39"/>
            <p:cNvSpPr>
              <a:spLocks noGrp="1"/>
            </p:cNvSpPr>
            <p:nvPr/>
          </p:nvSpPr>
          <p:spPr>
            <a:xfrm>
              <a:off x="2019" y="5347"/>
              <a:ext cx="1311" cy="821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sz="2800" b="1">
                  <a:solidFill>
                    <a:srgbClr val="FFFFFF"/>
                  </a:solidFill>
                </a:rPr>
                <a:t>权威</a:t>
              </a:r>
              <a:endParaRPr sz="28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3250565" y="3376930"/>
            <a:ext cx="1752600" cy="796290"/>
            <a:chOff x="1290" y="5118"/>
            <a:chExt cx="2760" cy="1254"/>
          </a:xfrm>
        </p:grpSpPr>
        <p:sp>
          <p:nvSpPr>
            <p:cNvPr id="42" name="圆角矩形 41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6275"/>
              </a:srgbClr>
            </a:solidFill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43" name="矩形 42"/>
            <p:cNvSpPr>
              <a:spLocks noGrp="1"/>
            </p:cNvSpPr>
            <p:nvPr/>
          </p:nvSpPr>
          <p:spPr>
            <a:xfrm>
              <a:off x="2019" y="5347"/>
              <a:ext cx="1311" cy="821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lang="zh-CN" sz="2800" b="1">
                  <a:solidFill>
                    <a:srgbClr val="FFFFFF"/>
                  </a:solidFill>
                </a:rPr>
                <a:t>稳重</a:t>
              </a:r>
              <a:endParaRPr lang="zh-CN" sz="28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572760" y="3376930"/>
            <a:ext cx="1752600" cy="796290"/>
            <a:chOff x="1290" y="5118"/>
            <a:chExt cx="2760" cy="1254"/>
          </a:xfrm>
        </p:grpSpPr>
        <p:sp>
          <p:nvSpPr>
            <p:cNvPr id="48" name="圆角矩形 47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6275"/>
              </a:srgbClr>
            </a:solidFill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49" name="矩形 48"/>
            <p:cNvSpPr>
              <a:spLocks noGrp="1"/>
            </p:cNvSpPr>
            <p:nvPr/>
          </p:nvSpPr>
          <p:spPr>
            <a:xfrm>
              <a:off x="1471" y="5347"/>
              <a:ext cx="2455" cy="821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lang="zh-CN" sz="2800" b="1">
                  <a:solidFill>
                    <a:srgbClr val="FFFFFF"/>
                  </a:solidFill>
                </a:rPr>
                <a:t>企业</a:t>
              </a:r>
              <a:r>
                <a:rPr lang="zh-CN" sz="2800" b="1">
                  <a:solidFill>
                    <a:srgbClr val="FFFFFF"/>
                  </a:solidFill>
                </a:rPr>
                <a:t>客户</a:t>
              </a:r>
              <a:endParaRPr lang="zh-CN" sz="280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655820" y="4692650"/>
            <a:ext cx="1752600" cy="796290"/>
            <a:chOff x="1290" y="5118"/>
            <a:chExt cx="2760" cy="1254"/>
          </a:xfrm>
        </p:grpSpPr>
        <p:sp>
          <p:nvSpPr>
            <p:cNvPr id="51" name="圆角矩形 50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6275"/>
              </a:srgbClr>
            </a:solidFill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52" name="矩形 51"/>
            <p:cNvSpPr>
              <a:spLocks noGrp="1"/>
            </p:cNvSpPr>
            <p:nvPr/>
          </p:nvSpPr>
          <p:spPr>
            <a:xfrm>
              <a:off x="1471" y="5347"/>
              <a:ext cx="2455" cy="821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lang="zh-CN" sz="2800" b="1">
                  <a:solidFill>
                    <a:srgbClr val="FFFFFF"/>
                  </a:solidFill>
                </a:rPr>
                <a:t>机制</a:t>
              </a:r>
              <a:r>
                <a:rPr lang="zh-CN" sz="2800" b="1">
                  <a:solidFill>
                    <a:srgbClr val="FFFFFF"/>
                  </a:solidFill>
                </a:rPr>
                <a:t>信任</a:t>
              </a:r>
              <a:endParaRPr lang="zh-CN" sz="2800" b="1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8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390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12 / DIRECTION B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57150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085850"/>
            <a:ext cx="83820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B 内容品牌型：增长与内容资产方向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1847850"/>
            <a:ext cx="40386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内容不是流量装饰，而是信任复利。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571750" y="4286250"/>
            <a:ext cx="6667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endParaRPr sz="1275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5791200"/>
            <a:ext cx="7258050" cy="9525"/>
          </a:xfrm>
          <a:prstGeom prst="rect">
            <a:avLst/>
          </a:prstGeom>
          <a:solidFill>
            <a:srgbClr val="D8D0C0"/>
          </a:solidFill>
          <a:ln w="0">
            <a:solidFill>
              <a:srgbClr val="D8D0C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6019800"/>
            <a:ext cx="7258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适用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6591300"/>
            <a:ext cx="62293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6707D"/>
                </a:solidFill>
              </a:defRPr>
            </a:pPr>
            <a:r>
              <a:rPr sz="1875">
                <a:solidFill>
                  <a:srgbClr val="66707D"/>
                </a:solidFill>
              </a:rPr>
              <a:t>SEO / 私域传播 / 律师 IP / 中小客户教育 / 播客与视频内容</a:t>
            </a:r>
            <a:endParaRPr sz="1875">
              <a:solidFill>
                <a:srgbClr val="66707D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7391400"/>
            <a:ext cx="7258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B14B2D"/>
                </a:solidFill>
              </a:defRPr>
            </a:pPr>
            <a:r>
              <a:rPr sz="2250" b="1">
                <a:solidFill>
                  <a:srgbClr val="B14B2D"/>
                </a:solidFill>
              </a:rPr>
              <a:t>判断</a:t>
            </a:r>
            <a:endParaRPr sz="2250" b="1">
              <a:solidFill>
                <a:srgbClr val="B14B2D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7962900"/>
            <a:ext cx="65722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6707D"/>
                </a:solidFill>
              </a:defRPr>
            </a:pPr>
            <a:r>
              <a:rPr sz="1875">
                <a:solidFill>
                  <a:srgbClr val="66707D"/>
                </a:solidFill>
              </a:rPr>
              <a:t>适合第二阶段叠加，帮助纬理把专业能力变成长期内容资产。</a:t>
            </a:r>
            <a:endParaRPr sz="1875">
              <a:solidFill>
                <a:srgbClr val="66707D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594408" y="2461260"/>
            <a:ext cx="8874443" cy="7254240"/>
          </a:xfrm>
          <a:prstGeom prst="roundRect">
            <a:avLst>
              <a:gd name="adj" fmla="val 105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858250" y="285750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首页线框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6544354" y="2724150"/>
            <a:ext cx="657796" cy="571500"/>
          </a:xfrm>
          <a:prstGeom prst="roundRect">
            <a:avLst>
              <a:gd name="adj" fmla="val 50000"/>
            </a:avLst>
          </a:prstGeom>
          <a:solidFill>
            <a:srgbClr val="B14B2D"/>
          </a:solidFill>
          <a:ln w="9525">
            <a:solidFill>
              <a:srgbClr val="B14B2D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6706850" y="2819400"/>
            <a:ext cx="323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CTA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839200" y="3429000"/>
            <a:ext cx="8305800" cy="1104900"/>
          </a:xfrm>
          <a:prstGeom prst="roundRect">
            <a:avLst>
              <a:gd name="adj" fmla="val 6897"/>
            </a:avLst>
          </a:prstGeom>
          <a:solidFill>
            <a:srgbClr val="F8F4EA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8861108" y="4735830"/>
            <a:ext cx="4103846" cy="1794510"/>
          </a:xfrm>
          <a:prstGeom prst="roundRect">
            <a:avLst>
              <a:gd name="adj" fmla="val 4246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029700" y="491490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6707D"/>
                </a:solidFill>
              </a:defRPr>
            </a:pPr>
            <a:r>
              <a:rPr sz="1650" b="1">
                <a:solidFill>
                  <a:srgbClr val="66707D"/>
                </a:solidFill>
              </a:rPr>
              <a:t>信任机制</a:t>
            </a:r>
            <a:endParaRPr sz="1650" b="1">
              <a:solidFill>
                <a:srgbClr val="66707D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3098304" y="4735830"/>
            <a:ext cx="4103846" cy="1794510"/>
          </a:xfrm>
          <a:prstGeom prst="roundRect">
            <a:avLst>
              <a:gd name="adj" fmla="val 4246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3277850" y="491490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6707D"/>
                </a:solidFill>
              </a:defRPr>
            </a:pPr>
            <a:r>
              <a:rPr sz="1650" b="1">
                <a:solidFill>
                  <a:srgbClr val="66707D"/>
                </a:solidFill>
              </a:rPr>
              <a:t>专业领域</a:t>
            </a:r>
            <a:endParaRPr sz="1650" b="1">
              <a:solidFill>
                <a:srgbClr val="66707D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861108" y="6663690"/>
            <a:ext cx="4103846" cy="1794510"/>
          </a:xfrm>
          <a:prstGeom prst="roundRect">
            <a:avLst>
              <a:gd name="adj" fmla="val 4246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029700" y="683895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6707D"/>
                </a:solidFill>
              </a:defRPr>
            </a:pPr>
            <a:r>
              <a:rPr sz="1650" b="1">
                <a:solidFill>
                  <a:srgbClr val="66707D"/>
                </a:solidFill>
              </a:rPr>
              <a:t>团队入口</a:t>
            </a:r>
            <a:endParaRPr sz="1650" b="1">
              <a:solidFill>
                <a:srgbClr val="66707D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13098304" y="6663690"/>
            <a:ext cx="4103846" cy="1794510"/>
          </a:xfrm>
          <a:prstGeom prst="roundRect">
            <a:avLst>
              <a:gd name="adj" fmla="val 4246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3277850" y="683895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6707D"/>
                </a:solidFill>
              </a:defRPr>
            </a:pPr>
            <a:r>
              <a:rPr sz="1650" b="1">
                <a:solidFill>
                  <a:srgbClr val="66707D"/>
                </a:solidFill>
              </a:rPr>
              <a:t>案例 / 内容</a:t>
            </a:r>
            <a:endParaRPr sz="1650" b="1">
              <a:solidFill>
                <a:srgbClr val="66707D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839200" y="8610600"/>
            <a:ext cx="8305800" cy="819150"/>
          </a:xfrm>
          <a:prstGeom prst="roundRect">
            <a:avLst>
              <a:gd name="adj" fmla="val 9302"/>
            </a:avLst>
          </a:prstGeom>
          <a:solidFill>
            <a:srgbClr val="B14B2D"/>
          </a:solidFill>
          <a:ln w="9525">
            <a:solidFill>
              <a:srgbClr val="B14B2D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819150" y="2529840"/>
            <a:ext cx="7258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4000" b="1">
                <a:solidFill>
                  <a:schemeClr val="tx1"/>
                </a:solidFill>
              </a:rPr>
              <a:t>关键词</a:t>
            </a:r>
            <a:endParaRPr sz="4000" b="1">
              <a:solidFill>
                <a:schemeClr val="tx1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2241550" y="4692650"/>
            <a:ext cx="1861820" cy="796290"/>
            <a:chOff x="1118" y="5118"/>
            <a:chExt cx="2932" cy="1254"/>
          </a:xfrm>
        </p:grpSpPr>
        <p:sp>
          <p:nvSpPr>
            <p:cNvPr id="39" name="圆角矩形 38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40" name="矩形 39"/>
            <p:cNvSpPr>
              <a:spLocks noGrp="1"/>
            </p:cNvSpPr>
            <p:nvPr/>
          </p:nvSpPr>
          <p:spPr>
            <a:xfrm>
              <a:off x="1118" y="5347"/>
              <a:ext cx="2808" cy="821"/>
            </a:xfrm>
            <a:prstGeom prst="rect">
              <a:avLst/>
            </a:prstGeom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lang="zh-CN" sz="2800" b="1">
                  <a:solidFill>
                    <a:schemeClr val="tx1"/>
                  </a:solidFill>
                </a:rPr>
                <a:t>自媒体</a:t>
              </a:r>
              <a:r>
                <a:rPr lang="zh-CN" sz="2800" b="1">
                  <a:solidFill>
                    <a:schemeClr val="tx1"/>
                  </a:solidFill>
                </a:rPr>
                <a:t>矩阵</a:t>
              </a:r>
              <a:endParaRPr lang="zh-CN" sz="28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46150" y="3376930"/>
            <a:ext cx="1752600" cy="796290"/>
            <a:chOff x="1290" y="5118"/>
            <a:chExt cx="2760" cy="1254"/>
          </a:xfrm>
          <a:solidFill>
            <a:schemeClr val="bg1"/>
          </a:solidFill>
        </p:grpSpPr>
        <p:sp>
          <p:nvSpPr>
            <p:cNvPr id="42" name="圆角矩形 41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43" name="矩形 42"/>
            <p:cNvSpPr>
              <a:spLocks noGrp="1"/>
            </p:cNvSpPr>
            <p:nvPr/>
          </p:nvSpPr>
          <p:spPr>
            <a:xfrm>
              <a:off x="2019" y="5347"/>
              <a:ext cx="1311" cy="821"/>
            </a:xfrm>
            <a:prstGeom prst="rect">
              <a:avLst/>
            </a:prstGeom>
            <a:grpFill/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lang="zh-CN" sz="2800" b="1">
                  <a:solidFill>
                    <a:schemeClr val="tx1"/>
                  </a:solidFill>
                </a:rPr>
                <a:t>清晰</a:t>
              </a:r>
              <a:endParaRPr lang="zh-CN" sz="28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250565" y="3376930"/>
            <a:ext cx="1752600" cy="796290"/>
            <a:chOff x="1290" y="5118"/>
            <a:chExt cx="2760" cy="1254"/>
          </a:xfrm>
          <a:solidFill>
            <a:schemeClr val="bg1"/>
          </a:solidFill>
        </p:grpSpPr>
        <p:sp>
          <p:nvSpPr>
            <p:cNvPr id="45" name="圆角矩形 44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46" name="矩形 45"/>
            <p:cNvSpPr>
              <a:spLocks noGrp="1"/>
            </p:cNvSpPr>
            <p:nvPr/>
          </p:nvSpPr>
          <p:spPr>
            <a:xfrm>
              <a:off x="2019" y="5347"/>
              <a:ext cx="1311" cy="821"/>
            </a:xfrm>
            <a:prstGeom prst="rect">
              <a:avLst/>
            </a:prstGeom>
            <a:grpFill/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lang="zh-CN" sz="2800" b="1">
                  <a:solidFill>
                    <a:schemeClr val="tx1"/>
                  </a:solidFill>
                </a:rPr>
                <a:t>可读</a:t>
              </a:r>
              <a:endParaRPr lang="zh-CN" sz="28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572760" y="3376930"/>
            <a:ext cx="1752600" cy="796290"/>
            <a:chOff x="1290" y="5118"/>
            <a:chExt cx="2760" cy="1254"/>
          </a:xfrm>
          <a:solidFill>
            <a:schemeClr val="bg1"/>
          </a:solidFill>
        </p:grpSpPr>
        <p:sp>
          <p:nvSpPr>
            <p:cNvPr id="48" name="圆角矩形 47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49" name="矩形 48"/>
            <p:cNvSpPr>
              <a:spLocks noGrp="1"/>
            </p:cNvSpPr>
            <p:nvPr/>
          </p:nvSpPr>
          <p:spPr>
            <a:xfrm>
              <a:off x="1471" y="5347"/>
              <a:ext cx="2455" cy="821"/>
            </a:xfrm>
            <a:prstGeom prst="rect">
              <a:avLst/>
            </a:prstGeom>
            <a:grpFill/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lang="zh-CN" sz="2800" b="1">
                  <a:solidFill>
                    <a:schemeClr val="tx1"/>
                  </a:solidFill>
                </a:rPr>
                <a:t>内容</a:t>
              </a:r>
              <a:r>
                <a:rPr lang="zh-CN" sz="2800" b="1">
                  <a:solidFill>
                    <a:schemeClr val="tx1"/>
                  </a:solidFill>
                </a:rPr>
                <a:t>转化</a:t>
              </a:r>
              <a:endParaRPr lang="zh-CN" sz="28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655820" y="4692650"/>
            <a:ext cx="1752600" cy="796290"/>
            <a:chOff x="1290" y="5118"/>
            <a:chExt cx="2760" cy="1254"/>
          </a:xfrm>
          <a:solidFill>
            <a:schemeClr val="bg1"/>
          </a:solidFill>
        </p:grpSpPr>
        <p:sp>
          <p:nvSpPr>
            <p:cNvPr id="51" name="圆角矩形 50"/>
            <p:cNvSpPr>
              <a:spLocks noGrp="1"/>
            </p:cNvSpPr>
            <p:nvPr/>
          </p:nvSpPr>
          <p:spPr>
            <a:xfrm>
              <a:off x="1290" y="5118"/>
              <a:ext cx="2760" cy="1254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rgbClr val="FFFFFF">
                  <a:alpha val="14118"/>
                </a:srgbClr>
              </a:solidFill>
              <a:prstDash val="solid"/>
            </a:ln>
          </p:spPr>
        </p:sp>
        <p:sp>
          <p:nvSpPr>
            <p:cNvPr id="52" name="矩形 51"/>
            <p:cNvSpPr>
              <a:spLocks noGrp="1"/>
            </p:cNvSpPr>
            <p:nvPr/>
          </p:nvSpPr>
          <p:spPr>
            <a:xfrm>
              <a:off x="1471" y="5347"/>
              <a:ext cx="2455" cy="821"/>
            </a:xfrm>
            <a:prstGeom prst="rect">
              <a:avLst/>
            </a:prstGeom>
            <a:grpFill/>
          </p:spPr>
          <p:txBody>
            <a:bodyPr lIns="0" tIns="0" rIns="0" bIns="0"/>
            <a:lstStyle/>
            <a:p>
              <a:pPr>
                <a:defRPr sz="1275" b="1">
                  <a:solidFill>
                    <a:srgbClr val="FFFFFF"/>
                  </a:solidFill>
                </a:defRPr>
              </a:pPr>
              <a:r>
                <a:rPr lang="zh-CN" sz="2800" b="1">
                  <a:solidFill>
                    <a:schemeClr val="tx1"/>
                  </a:solidFill>
                </a:rPr>
                <a:t>长期</a:t>
              </a:r>
              <a:r>
                <a:rPr lang="zh-CN" sz="2800" b="1">
                  <a:solidFill>
                    <a:schemeClr val="tx1"/>
                  </a:solidFill>
                </a:rPr>
                <a:t>获客</a:t>
              </a:r>
              <a:endParaRPr lang="zh-CN" sz="2800" b="1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4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390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13 / DIRECTION C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57150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085850"/>
            <a:ext cx="840105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C 精品所型：高净值与私密服务方向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457450"/>
            <a:ext cx="3028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少而准，安静但有判断力。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4038600"/>
            <a:ext cx="7258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关键词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19150" y="4614863"/>
            <a:ext cx="67351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90600" y="470535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私密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606963" y="4614863"/>
            <a:ext cx="67351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771650" y="470535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克制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394775" y="4614863"/>
            <a:ext cx="673513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571750" y="4705350"/>
            <a:ext cx="3238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高端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9150" y="5209223"/>
            <a:ext cx="116928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90600" y="5295900"/>
            <a:ext cx="819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合伙人主导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102739" y="5209223"/>
            <a:ext cx="1004030" cy="5600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266950" y="5295900"/>
            <a:ext cx="6667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长期关系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6000750"/>
            <a:ext cx="7258050" cy="9525"/>
          </a:xfrm>
          <a:prstGeom prst="rect">
            <a:avLst/>
          </a:prstGeom>
          <a:solidFill>
            <a:srgbClr val="D8D0C0"/>
          </a:solidFill>
          <a:ln w="0">
            <a:solidFill>
              <a:srgbClr val="D8D0C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19150" y="6229350"/>
            <a:ext cx="7258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适用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6800850"/>
            <a:ext cx="6362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6707D"/>
                </a:solidFill>
              </a:defRPr>
            </a:pPr>
            <a:r>
              <a:rPr sz="1875">
                <a:solidFill>
                  <a:srgbClr val="66707D"/>
                </a:solidFill>
              </a:rPr>
              <a:t>高净值个人 / 企业主个人风险 / 家族事务 / 财富与股权安排 / 私密复杂争议</a:t>
            </a:r>
            <a:endParaRPr sz="1875">
              <a:solidFill>
                <a:srgbClr val="66707D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7600950"/>
            <a:ext cx="72580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23362F"/>
                </a:solidFill>
              </a:defRPr>
            </a:pPr>
            <a:r>
              <a:rPr sz="2250" b="1">
                <a:solidFill>
                  <a:srgbClr val="23362F"/>
                </a:solidFill>
              </a:rPr>
              <a:t>判断</a:t>
            </a:r>
            <a:endParaRPr sz="2250" b="1">
              <a:solidFill>
                <a:srgbClr val="23362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9150" y="8172450"/>
            <a:ext cx="55816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>
                <a:solidFill>
                  <a:srgbClr val="66707D"/>
                </a:solidFill>
              </a:defRPr>
            </a:pPr>
            <a:r>
              <a:rPr sz="1875">
                <a:solidFill>
                  <a:srgbClr val="66707D"/>
                </a:solidFill>
              </a:rPr>
              <a:t>适合做精品服务线，不建议作为当前主站唯一方向。</a:t>
            </a:r>
            <a:endParaRPr sz="1875">
              <a:solidFill>
                <a:srgbClr val="66707D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594408" y="3078480"/>
            <a:ext cx="8874443" cy="6637020"/>
          </a:xfrm>
          <a:prstGeom prst="roundRect">
            <a:avLst>
              <a:gd name="adj" fmla="val 114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858250" y="3467100"/>
            <a:ext cx="76771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首页线框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6544354" y="3333750"/>
            <a:ext cx="657796" cy="571500"/>
          </a:xfrm>
          <a:prstGeom prst="roundRect">
            <a:avLst>
              <a:gd name="adj" fmla="val 50000"/>
            </a:avLst>
          </a:prstGeom>
          <a:solidFill>
            <a:srgbClr val="23362F"/>
          </a:solidFill>
          <a:ln w="9525">
            <a:solidFill>
              <a:srgbClr val="23362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6706850" y="3429000"/>
            <a:ext cx="3238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CTA</a:t>
            </a:r>
            <a:endParaRPr sz="1275" b="1">
              <a:solidFill>
                <a:srgbClr val="111827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839200" y="4114800"/>
            <a:ext cx="8305800" cy="1104900"/>
          </a:xfrm>
          <a:prstGeom prst="roundRect">
            <a:avLst>
              <a:gd name="adj" fmla="val 6897"/>
            </a:avLst>
          </a:prstGeom>
          <a:solidFill>
            <a:srgbClr val="F8F4EA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8861108" y="5353050"/>
            <a:ext cx="4103846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029700" y="552450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6707D"/>
                </a:solidFill>
              </a:defRPr>
            </a:pPr>
            <a:r>
              <a:rPr sz="1650" b="1">
                <a:solidFill>
                  <a:srgbClr val="66707D"/>
                </a:solidFill>
              </a:rPr>
              <a:t>信任机制</a:t>
            </a:r>
            <a:endParaRPr sz="1650" b="1">
              <a:solidFill>
                <a:srgbClr val="66707D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3098304" y="5353050"/>
            <a:ext cx="4103846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3277850" y="552450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6707D"/>
                </a:solidFill>
              </a:defRPr>
            </a:pPr>
            <a:r>
              <a:rPr sz="1650" b="1">
                <a:solidFill>
                  <a:srgbClr val="66707D"/>
                </a:solidFill>
              </a:rPr>
              <a:t>专业领域</a:t>
            </a:r>
            <a:endParaRPr sz="1650" b="1">
              <a:solidFill>
                <a:srgbClr val="66707D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861108" y="6972300"/>
            <a:ext cx="4103846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029700" y="714375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6707D"/>
                </a:solidFill>
              </a:defRPr>
            </a:pPr>
            <a:r>
              <a:rPr sz="1650" b="1">
                <a:solidFill>
                  <a:srgbClr val="66707D"/>
                </a:solidFill>
              </a:rPr>
              <a:t>团队入口</a:t>
            </a:r>
            <a:endParaRPr sz="1650" b="1">
              <a:solidFill>
                <a:srgbClr val="66707D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13098304" y="6972300"/>
            <a:ext cx="4103846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3277850" y="7143750"/>
            <a:ext cx="3752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66707D"/>
                </a:solidFill>
              </a:defRPr>
            </a:pPr>
            <a:r>
              <a:rPr sz="1650" b="1">
                <a:solidFill>
                  <a:srgbClr val="66707D"/>
                </a:solidFill>
              </a:rPr>
              <a:t>案例 / 内容</a:t>
            </a:r>
            <a:endParaRPr sz="1650" b="1">
              <a:solidFill>
                <a:srgbClr val="66707D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839200" y="8610600"/>
            <a:ext cx="8305800" cy="819150"/>
          </a:xfrm>
          <a:prstGeom prst="roundRect">
            <a:avLst>
              <a:gd name="adj" fmla="val 9302"/>
            </a:avLst>
          </a:prstGeom>
          <a:solidFill>
            <a:srgbClr val="23362F"/>
          </a:solidFill>
          <a:ln w="9525">
            <a:solidFill>
              <a:srgbClr val="23362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6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571500"/>
            <a:ext cx="18478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B14B2D"/>
                </a:solidFill>
              </a:defRPr>
            </a:pPr>
            <a:r>
              <a:rPr sz="1275" b="1">
                <a:solidFill>
                  <a:srgbClr val="B14B2D"/>
                </a:solidFill>
              </a:rPr>
              <a:t>14 / TALENT FLYWHEEL</a:t>
            </a:r>
            <a:endParaRPr sz="1275" b="1">
              <a:solidFill>
                <a:srgbClr val="B14B2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211300" y="571500"/>
            <a:ext cx="3257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6707D"/>
                </a:solidFill>
              </a:defRPr>
            </a:pPr>
            <a:r>
              <a:rPr sz="1200">
                <a:solidFill>
                  <a:srgbClr val="66707D"/>
                </a:solidFill>
              </a:rPr>
              <a:t>北京纬理律师事务所｜网站设计与品牌升级方案</a:t>
            </a:r>
            <a:endParaRPr sz="1200">
              <a:solidFill>
                <a:srgbClr val="66707D"/>
              </a:solidFill>
            </a:endParaRPr>
          </a:p>
        </p:txBody>
      </p:sp>
      <p:sp>
        <p:nvSpPr>
          <p:cNvPr id="5" name="slide-title"/>
          <p:cNvSpPr>
            <a:spLocks noGrp="1"/>
          </p:cNvSpPr>
          <p:nvPr/>
        </p:nvSpPr>
        <p:spPr>
          <a:xfrm>
            <a:off x="819150" y="1085850"/>
            <a:ext cx="8934450" cy="1238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人才飞轮：网站也是优秀律师筛选机制</a:t>
            </a:r>
            <a:endParaRPr sz="4050" b="1">
              <a:solidFill>
                <a:srgbClr val="111827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457450"/>
            <a:ext cx="43053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C6A661"/>
                </a:solidFill>
              </a:defRPr>
            </a:pPr>
            <a:r>
              <a:rPr sz="1950" b="1">
                <a:solidFill>
                  <a:srgbClr val="C6A661"/>
                </a:solidFill>
              </a:rPr>
              <a:t>好网站不只是招人，而是筛选同路人。</a:t>
            </a:r>
            <a:endParaRPr sz="1950" b="1">
              <a:solidFill>
                <a:srgbClr val="C6A66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4991100"/>
            <a:ext cx="69342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要吸引的人</a:t>
            </a:r>
            <a:endParaRPr sz="2400" b="1">
              <a:solidFill>
                <a:srgbClr val="111827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19150" y="5695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5581650"/>
            <a:ext cx="6724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66707D"/>
                </a:solidFill>
              </a:defRPr>
            </a:pPr>
            <a:r>
              <a:rPr sz="2025" b="1">
                <a:solidFill>
                  <a:srgbClr val="66707D"/>
                </a:solidFill>
              </a:rPr>
              <a:t>能处理复杂问题</a:t>
            </a:r>
            <a:endParaRPr sz="2025" b="1">
              <a:solidFill>
                <a:srgbClr val="66707D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6172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6057900"/>
            <a:ext cx="6724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66707D"/>
                </a:solidFill>
              </a:defRPr>
            </a:pPr>
            <a:r>
              <a:rPr sz="2025" b="1">
                <a:solidFill>
                  <a:srgbClr val="66707D"/>
                </a:solidFill>
              </a:rPr>
              <a:t>愿意参与高质量案件</a:t>
            </a:r>
            <a:endParaRPr sz="2025" b="1">
              <a:solidFill>
                <a:srgbClr val="66707D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19150" y="6648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28700" y="6534150"/>
            <a:ext cx="6724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66707D"/>
                </a:solidFill>
              </a:defRPr>
            </a:pPr>
            <a:r>
              <a:rPr sz="2025" b="1">
                <a:solidFill>
                  <a:srgbClr val="66707D"/>
                </a:solidFill>
              </a:rPr>
              <a:t>理解客户业务</a:t>
            </a:r>
            <a:endParaRPr sz="2025" b="1">
              <a:solidFill>
                <a:srgbClr val="66707D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9150" y="712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28700" y="7010400"/>
            <a:ext cx="6724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66707D"/>
                </a:solidFill>
              </a:defRPr>
            </a:pPr>
            <a:r>
              <a:rPr sz="2025" b="1">
                <a:solidFill>
                  <a:srgbClr val="66707D"/>
                </a:solidFill>
              </a:rPr>
              <a:t>有内容表达能力</a:t>
            </a:r>
            <a:endParaRPr sz="2025" b="1">
              <a:solidFill>
                <a:srgbClr val="66707D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19150" y="76009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28700" y="7486650"/>
            <a:ext cx="67246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025" b="1">
                <a:solidFill>
                  <a:srgbClr val="66707D"/>
                </a:solidFill>
              </a:defRPr>
            </a:pPr>
            <a:r>
              <a:rPr sz="2025" b="1">
                <a:solidFill>
                  <a:srgbClr val="66707D"/>
                </a:solidFill>
              </a:rPr>
              <a:t>认同协作机制</a:t>
            </a:r>
            <a:endParaRPr sz="2025" b="1">
              <a:solidFill>
                <a:srgbClr val="66707D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282559" y="3078480"/>
            <a:ext cx="9186291" cy="6637020"/>
          </a:xfrm>
          <a:prstGeom prst="roundRect">
            <a:avLst>
              <a:gd name="adj" fmla="val 1148"/>
            </a:avLst>
          </a:prstGeom>
          <a:solidFill>
            <a:srgbClr val="FFFFFF"/>
          </a:solidFill>
          <a:ln w="9525">
            <a:solidFill>
              <a:srgbClr val="D8D0C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610600" y="4057650"/>
            <a:ext cx="85344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优秀律师筛选机制</a:t>
            </a:r>
            <a:endParaRPr sz="3450" b="1">
              <a:solidFill>
                <a:srgbClr val="111827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606409" y="4850130"/>
            <a:ext cx="2731897" cy="1581150"/>
          </a:xfrm>
          <a:prstGeom prst="roundRect">
            <a:avLst>
              <a:gd name="adj" fmla="val 4819"/>
            </a:avLst>
          </a:prstGeom>
          <a:solidFill>
            <a:srgbClr val="F8F4EA"/>
          </a:solidFill>
          <a:ln w="9525">
            <a:solidFill>
              <a:srgbClr val="E7DCC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820150" y="5067300"/>
            <a:ext cx="2305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复杂案件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1509756" y="4850130"/>
            <a:ext cx="2731897" cy="1581150"/>
          </a:xfrm>
          <a:prstGeom prst="roundRect">
            <a:avLst>
              <a:gd name="adj" fmla="val 4819"/>
            </a:avLst>
          </a:prstGeom>
          <a:solidFill>
            <a:srgbClr val="F8F4EA"/>
          </a:solidFill>
          <a:ln w="9525">
            <a:solidFill>
              <a:srgbClr val="E7DCC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1715750" y="5067300"/>
            <a:ext cx="2305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专业成长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4413103" y="4850130"/>
            <a:ext cx="2731897" cy="1581150"/>
          </a:xfrm>
          <a:prstGeom prst="roundRect">
            <a:avLst>
              <a:gd name="adj" fmla="val 4819"/>
            </a:avLst>
          </a:prstGeom>
          <a:solidFill>
            <a:srgbClr val="F8F4EA"/>
          </a:solidFill>
          <a:ln w="9525">
            <a:solidFill>
              <a:srgbClr val="E7DCC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630400" y="5067300"/>
            <a:ext cx="2305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内容表达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606409" y="6602730"/>
            <a:ext cx="2731897" cy="1581150"/>
          </a:xfrm>
          <a:prstGeom prst="roundRect">
            <a:avLst>
              <a:gd name="adj" fmla="val 4819"/>
            </a:avLst>
          </a:prstGeom>
          <a:solidFill>
            <a:srgbClr val="F8F4EA"/>
          </a:solidFill>
          <a:ln w="9525">
            <a:solidFill>
              <a:srgbClr val="E7DCC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820150" y="6819900"/>
            <a:ext cx="2305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更强人才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11509756" y="6602730"/>
            <a:ext cx="2731897" cy="1581150"/>
          </a:xfrm>
          <a:prstGeom prst="roundRect">
            <a:avLst>
              <a:gd name="adj" fmla="val 4819"/>
            </a:avLst>
          </a:prstGeom>
          <a:solidFill>
            <a:srgbClr val="0B1119"/>
          </a:solidFill>
          <a:ln w="9525">
            <a:solidFill>
              <a:srgbClr val="0B1119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715750" y="6819900"/>
            <a:ext cx="2305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C6A661"/>
                </a:solidFill>
              </a:defRPr>
            </a:pPr>
            <a:r>
              <a:rPr sz="1875" b="1">
                <a:solidFill>
                  <a:srgbClr val="C6A661"/>
                </a:solidFill>
              </a:rPr>
              <a:t>承接更复杂案件</a:t>
            </a:r>
            <a:endParaRPr sz="1875" b="1">
              <a:solidFill>
                <a:srgbClr val="C6A661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14413103" y="6602730"/>
            <a:ext cx="2731897" cy="1581150"/>
          </a:xfrm>
          <a:prstGeom prst="roundRect">
            <a:avLst>
              <a:gd name="adj" fmla="val 4819"/>
            </a:avLst>
          </a:prstGeom>
          <a:solidFill>
            <a:srgbClr val="F8F4EA"/>
          </a:solidFill>
          <a:ln w="9525">
            <a:solidFill>
              <a:srgbClr val="E7DCC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630400" y="6819900"/>
            <a:ext cx="23050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品牌增强</a:t>
            </a:r>
            <a:endParaRPr sz="1875" b="1">
              <a:solidFill>
                <a:srgbClr val="111827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610600" y="8458200"/>
            <a:ext cx="8534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C6A661"/>
                </a:solidFill>
              </a:defRPr>
            </a:pPr>
            <a:r>
              <a:rPr sz="1875" b="1">
                <a:solidFill>
                  <a:srgbClr val="C6A661"/>
                </a:solidFill>
              </a:rPr>
              <a:t>复杂案件 → 成长 → 内容 → 品牌 → 人才 → 更复杂案件</a:t>
            </a:r>
            <a:endParaRPr sz="1875" b="1">
              <a:solidFill>
                <a:srgbClr val="C6A66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119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52450"/>
            <a:ext cx="13716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15 / START NOW</a:t>
            </a:r>
            <a:endParaRPr sz="1350" b="1">
              <a:solidFill>
                <a:srgbClr val="C6A66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6402050" y="552450"/>
            <a:ext cx="1047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A661"/>
                </a:solidFill>
              </a:defRPr>
            </a:pPr>
            <a:r>
              <a:rPr sz="1350" b="1">
                <a:solidFill>
                  <a:srgbClr val="C6A661"/>
                </a:solidFill>
              </a:rPr>
              <a:t>建议立即启动</a:t>
            </a:r>
            <a:endParaRPr sz="1350" b="1">
              <a:solidFill>
                <a:srgbClr val="C6A66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38200" y="1009650"/>
            <a:ext cx="13906500" cy="1257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这不是一次网站改版，而是为纬理建设一套可持续积累的业务基础设施。</a:t>
            </a:r>
            <a:endParaRPr sz="4125" b="1">
              <a:solidFill>
                <a:srgbClr val="FFFFFF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38200" y="2510790"/>
            <a:ext cx="5384800" cy="2266950"/>
          </a:xfrm>
          <a:prstGeom prst="roundRect">
            <a:avLst>
              <a:gd name="adj" fmla="val 3361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1104900" y="27813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04900" y="3543300"/>
            <a:ext cx="4857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客户更快理解纬理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4900" y="4000500"/>
            <a:ext cx="4495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9D0D8"/>
                </a:solidFill>
              </a:defRPr>
            </a:pPr>
            <a:r>
              <a:rPr sz="1650">
                <a:solidFill>
                  <a:srgbClr val="C9D0D8"/>
                </a:solidFill>
              </a:rPr>
              <a:t>把专业能力、服务机制和团队经验结构化呈现。</a:t>
            </a:r>
            <a:endParaRPr sz="1650">
              <a:solidFill>
                <a:srgbClr val="C9D0D8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451600" y="2510790"/>
            <a:ext cx="5384800" cy="2266950"/>
          </a:xfrm>
          <a:prstGeom prst="roundRect">
            <a:avLst>
              <a:gd name="adj" fmla="val 3361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705600" y="27813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724650" y="3543300"/>
            <a:ext cx="4857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咨询进入可管理流程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24650" y="4000500"/>
            <a:ext cx="43053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9D0D8"/>
                </a:solidFill>
              </a:defRPr>
            </a:pPr>
            <a:r>
              <a:rPr sz="1650">
                <a:solidFill>
                  <a:srgbClr val="C9D0D8"/>
                </a:solidFill>
              </a:rPr>
              <a:t>通过分流、证明和明确 CTA，减少客户犹豫。</a:t>
            </a:r>
            <a:endParaRPr sz="1650">
              <a:solidFill>
                <a:srgbClr val="C9D0D8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2065000" y="2510790"/>
            <a:ext cx="5384800" cy="2266950"/>
          </a:xfrm>
          <a:prstGeom prst="roundRect">
            <a:avLst>
              <a:gd name="adj" fmla="val 3361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12344400" y="2781300"/>
            <a:ext cx="514350" cy="66675"/>
          </a:xfrm>
          <a:prstGeom prst="roundRect">
            <a:avLst>
              <a:gd name="adj" fmla="val 50000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325350" y="3543300"/>
            <a:ext cx="48577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人才更容易识别价值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325350" y="4000500"/>
            <a:ext cx="4705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9D0D8"/>
                </a:solidFill>
              </a:defRPr>
            </a:pPr>
            <a:r>
              <a:rPr sz="1650">
                <a:solidFill>
                  <a:srgbClr val="C9D0D8"/>
                </a:solidFill>
              </a:rPr>
              <a:t>通过案件质量、组织机制和内容能力吸引匹配型律师。</a:t>
            </a:r>
            <a:endParaRPr sz="1650">
              <a:solidFill>
                <a:srgbClr val="C9D0D8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38200" y="5025390"/>
            <a:ext cx="16611600" cy="2133600"/>
          </a:xfrm>
          <a:prstGeom prst="roundRect">
            <a:avLst>
              <a:gd name="adj" fmla="val 3571"/>
            </a:avLst>
          </a:prstGeom>
          <a:solidFill>
            <a:srgbClr val="FFFFFF">
              <a:alpha val="5098"/>
            </a:srgbClr>
          </a:solidFill>
          <a:ln w="9525">
            <a:solidFill>
              <a:srgbClr val="FFFFFF">
                <a:alpha val="14118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66800" y="5372100"/>
            <a:ext cx="161544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三阶段路径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066800" y="5905500"/>
            <a:ext cx="5003800" cy="895350"/>
          </a:xfrm>
          <a:prstGeom prst="roundRect">
            <a:avLst>
              <a:gd name="adj" fmla="val 8511"/>
            </a:avLst>
          </a:prstGeom>
          <a:solidFill>
            <a:srgbClr val="FFFFFF">
              <a:alpha val="5490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57300" y="6076950"/>
            <a:ext cx="46291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 版主站：建立权威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0" y="61722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642100" y="5905500"/>
            <a:ext cx="5003800" cy="895350"/>
          </a:xfrm>
          <a:prstGeom prst="roundRect">
            <a:avLst>
              <a:gd name="adj" fmla="val 8511"/>
            </a:avLst>
          </a:prstGeom>
          <a:solidFill>
            <a:srgbClr val="FFFFFF">
              <a:alpha val="5490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838950" y="6076950"/>
            <a:ext cx="46291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 版内容：沉淀资产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753850" y="6172200"/>
            <a:ext cx="342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C6A661"/>
                </a:solidFill>
              </a:defRPr>
            </a:pPr>
            <a:r>
              <a:rPr sz="2550" b="1">
                <a:solidFill>
                  <a:srgbClr val="C6A661"/>
                </a:solidFill>
              </a:rPr>
              <a:t>→</a:t>
            </a:r>
            <a:endParaRPr sz="2550" b="1">
              <a:solidFill>
                <a:srgbClr val="C6A661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2217400" y="5905500"/>
            <a:ext cx="5003800" cy="895350"/>
          </a:xfrm>
          <a:prstGeom prst="roundRect">
            <a:avLst>
              <a:gd name="adj" fmla="val 8511"/>
            </a:avLst>
          </a:prstGeom>
          <a:solidFill>
            <a:srgbClr val="FFFFFF">
              <a:alpha val="5490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2401550" y="6076950"/>
            <a:ext cx="46291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 版精品线：承接私密复杂事务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38200" y="7406640"/>
            <a:ext cx="16611600" cy="712470"/>
          </a:xfrm>
          <a:prstGeom prst="roundRect">
            <a:avLst>
              <a:gd name="adj" fmla="val 10695"/>
            </a:avLst>
          </a:prstGeom>
          <a:solidFill>
            <a:srgbClr val="C6A661"/>
          </a:solidFill>
          <a:ln w="9525">
            <a:solidFill>
              <a:srgbClr val="C6A66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123950" y="7600950"/>
            <a:ext cx="160401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75" b="1">
                <a:solidFill>
                  <a:srgbClr val="0B1119"/>
                </a:solidFill>
              </a:defRPr>
            </a:pPr>
            <a:r>
              <a:rPr sz="2175" b="1">
                <a:solidFill>
                  <a:srgbClr val="0B1119"/>
                </a:solidFill>
              </a:rPr>
              <a:t>建议立即启动：先建立可信主站，再沉淀内容与精品服务线。</a:t>
            </a:r>
            <a:endParaRPr sz="2175" b="1">
              <a:solidFill>
                <a:srgbClr val="0B111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2893</Words>
  <Application>WPS 演示</Application>
  <PresentationFormat>Converted Presentation</PresentationFormat>
  <Paragraphs>585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WPS_1775689481</cp:lastModifiedBy>
  <cp:revision>2</cp:revision>
  <dcterms:created xsi:type="dcterms:W3CDTF">2026-04-30T04:27:25Z</dcterms:created>
  <dcterms:modified xsi:type="dcterms:W3CDTF">2026-04-30T04:27:25Z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2052-12.1.25880.25880</vt:lpwstr>
  </property>
  <property fmtid="{D5CDD505-2E9C-101B-9397-08002B2CF9AE}" pid="3" name="ICV">
    <vt:lpwstr>648763A17EE46E715AD7F26915CD6431_42</vt:lpwstr>
  </property>
</Properties>
</file>